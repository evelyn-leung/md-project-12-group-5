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70" r:id="rId3"/>
    <p:sldId id="266" r:id="rId4"/>
    <p:sldId id="272" r:id="rId5"/>
    <p:sldId id="260" r:id="rId6"/>
    <p:sldId id="268" r:id="rId7"/>
    <p:sldId id="261" r:id="rId8"/>
    <p:sldId id="269" r:id="rId9"/>
    <p:sldId id="263" r:id="rId10"/>
    <p:sldId id="264" r:id="rId11"/>
    <p:sldId id="265" r:id="rId12"/>
    <p:sldId id="267" r:id="rId13"/>
    <p:sldId id="262" r:id="rId14"/>
    <p:sldId id="273" r:id="rId15"/>
    <p:sldId id="271" r:id="rId16"/>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22" d="100"/>
          <a:sy n="122" d="100"/>
        </p:scale>
        <p:origin x="96" y="2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notesMaster" Target="notesMasters/notesMaster1.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3812" y="0"/>
            <a:ext cx="3078290" cy="513492"/>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1584" y="1279287"/>
            <a:ext cx="6140577" cy="34540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0375" y="4925254"/>
            <a:ext cx="5682996" cy="4029754"/>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9720804"/>
            <a:ext cx="3078290" cy="513491"/>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3812" y="9720804"/>
            <a:ext cx="3078290" cy="513491"/>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tags" Target="../tags/tag6.xml"/><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4" Type="http://schemas.openxmlformats.org/officeDocument/2006/relationships/tags" Target="../tags/tag9.xml"/><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4" Type="http://schemas.openxmlformats.org/officeDocument/2006/relationships/tags" Target="../tags/tag15.xml"/><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4" Type="http://schemas.openxmlformats.org/officeDocument/2006/relationships/tags" Target="../tags/tag30.xml"/><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3968" y="136131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3968" y="384098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10" name="日期占位符 9"/>
          <p:cNvSpPr>
            <a:spLocks noGrp="1"/>
          </p:cNvSpPr>
          <p:nvPr>
            <p:ph type="dt" sz="half" idx="2"/>
            <p:custDataLst>
              <p:tags r:id="rId2"/>
            </p:custDataLst>
          </p:nvPr>
        </p:nvSpPr>
        <p:spPr>
          <a:xfrm>
            <a:off x="605155" y="6314440"/>
            <a:ext cx="2707005" cy="316865"/>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11" name="页脚占位符 10"/>
          <p:cNvSpPr>
            <a:spLocks noGrp="1"/>
          </p:cNvSpPr>
          <p:nvPr>
            <p:ph type="ftr" sz="quarter" idx="3"/>
            <p:custDataLst>
              <p:tags r:id="rId3"/>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12" name="灯片编号占位符 11"/>
          <p:cNvSpPr>
            <a:spLocks noGrp="1"/>
          </p:cNvSpPr>
          <p:nvPr>
            <p:ph type="sldNum" sz="quarter" idx="4"/>
            <p:custDataLst>
              <p:tags r:id="rId4"/>
            </p:custDataLst>
          </p:nvPr>
        </p:nvSpPr>
        <p:spPr>
          <a:xfrm>
            <a:off x="8877300" y="6314440"/>
            <a:ext cx="2711450" cy="316865"/>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584" y="482457"/>
            <a:ext cx="10972888" cy="711206"/>
          </a:xfr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609556" y="1524000"/>
            <a:ext cx="10972888" cy="47244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9"/>
          <p:cNvSpPr>
            <a:spLocks noGrp="1"/>
          </p:cNvSpPr>
          <p:nvPr>
            <p:ph type="dt" sz="half" idx="2"/>
            <p:custDataLst>
              <p:tags r:id="rId2"/>
            </p:custDataLst>
          </p:nvPr>
        </p:nvSpPr>
        <p:spPr>
          <a:xfrm>
            <a:off x="605155" y="6314440"/>
            <a:ext cx="2707005" cy="316865"/>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11" name="页脚占位符 10"/>
          <p:cNvSpPr>
            <a:spLocks noGrp="1"/>
          </p:cNvSpPr>
          <p:nvPr>
            <p:ph type="ftr" sz="quarter" idx="3"/>
            <p:custDataLst>
              <p:tags r:id="rId3"/>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12" name="灯片编号占位符 11"/>
          <p:cNvSpPr>
            <a:spLocks noGrp="1"/>
          </p:cNvSpPr>
          <p:nvPr>
            <p:ph type="sldNum" sz="quarter" idx="4"/>
            <p:custDataLst>
              <p:tags r:id="rId4"/>
            </p:custDataLst>
          </p:nvPr>
        </p:nvSpPr>
        <p:spPr>
          <a:xfrm>
            <a:off x="8877300" y="6314440"/>
            <a:ext cx="2711450" cy="316865"/>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8" name="日期占位符 7"/>
          <p:cNvSpPr>
            <a:spLocks noGrp="1"/>
          </p:cNvSpPr>
          <p:nvPr>
            <p:ph type="dt" sz="half" idx="2"/>
            <p:custDataLst>
              <p:tags r:id="rId2"/>
            </p:custDataLst>
          </p:nvPr>
        </p:nvSpPr>
        <p:spPr>
          <a:xfrm>
            <a:off x="605155" y="6314440"/>
            <a:ext cx="2707005" cy="316865"/>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9" name="页脚占位符 8"/>
          <p:cNvSpPr>
            <a:spLocks noGrp="1"/>
          </p:cNvSpPr>
          <p:nvPr>
            <p:ph type="ftr" sz="quarter" idx="3"/>
            <p:custDataLst>
              <p:tags r:id="rId3"/>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10" name="灯片编号占位符 9"/>
          <p:cNvSpPr>
            <a:spLocks noGrp="1"/>
          </p:cNvSpPr>
          <p:nvPr>
            <p:ph type="sldNum" sz="quarter" idx="4"/>
            <p:custDataLst>
              <p:tags r:id="rId4"/>
            </p:custDataLst>
          </p:nvPr>
        </p:nvSpPr>
        <p:spPr>
          <a:xfrm>
            <a:off x="8877300" y="6314440"/>
            <a:ext cx="2711450" cy="316865"/>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10" name="日期占位符 9"/>
          <p:cNvSpPr>
            <a:spLocks noGrp="1"/>
          </p:cNvSpPr>
          <p:nvPr>
            <p:ph type="dt" sz="half" idx="2"/>
            <p:custDataLst>
              <p:tags r:id="rId2"/>
            </p:custDataLst>
          </p:nvPr>
        </p:nvSpPr>
        <p:spPr>
          <a:xfrm>
            <a:off x="605155" y="6314440"/>
            <a:ext cx="2707005" cy="316865"/>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11" name="页脚占位符 10"/>
          <p:cNvSpPr>
            <a:spLocks noGrp="1"/>
          </p:cNvSpPr>
          <p:nvPr>
            <p:ph type="ftr" sz="quarter" idx="3"/>
            <p:custDataLst>
              <p:tags r:id="rId3"/>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12" name="灯片编号占位符 11"/>
          <p:cNvSpPr>
            <a:spLocks noGrp="1"/>
          </p:cNvSpPr>
          <p:nvPr>
            <p:ph type="sldNum" sz="quarter" idx="4"/>
            <p:custDataLst>
              <p:tags r:id="rId4"/>
            </p:custDataLst>
          </p:nvPr>
        </p:nvSpPr>
        <p:spPr>
          <a:xfrm>
            <a:off x="8877300" y="6314440"/>
            <a:ext cx="2711450" cy="316865"/>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556" y="482457"/>
            <a:ext cx="10972888" cy="711206"/>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584" y="1523857"/>
            <a:ext cx="5257842" cy="47244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322060" y="1524000"/>
            <a:ext cx="5266690" cy="47244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2" name="页脚占位符 11"/>
          <p:cNvSpPr>
            <a:spLocks noGrp="1"/>
          </p:cNvSpPr>
          <p:nvPr>
            <p:ph type="ftr" sz="quarter" idx="3"/>
            <p:custDataLst>
              <p:tags r:id="rId2"/>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14" name="日期占位符 13"/>
          <p:cNvSpPr>
            <a:spLocks noGrp="1"/>
          </p:cNvSpPr>
          <p:nvPr>
            <p:ph type="dt" sz="half" idx="10"/>
            <p:custDataLst>
              <p:tags r:id="rId3"/>
            </p:custDataLst>
          </p:nvPr>
        </p:nvSpPr>
        <p:spPr>
          <a:xfrm>
            <a:off x="603250" y="6314440"/>
            <a:ext cx="2708910" cy="316865"/>
          </a:xfrm>
        </p:spPr>
        <p:txBody>
          <a:bodyPr/>
          <a:lstStyle/>
          <a:p>
            <a:fld id="{760FBDFE-C587-4B4C-A407-44438C67B59E}" type="datetimeFigureOut">
              <a:rPr lang="zh-CN" altLang="en-US" smtClean="0"/>
            </a:fld>
            <a:endParaRPr lang="zh-CN" altLang="en-US"/>
          </a:p>
        </p:txBody>
      </p:sp>
      <p:sp>
        <p:nvSpPr>
          <p:cNvPr id="15" name="灯片编号占位符 14"/>
          <p:cNvSpPr>
            <a:spLocks noGrp="1"/>
          </p:cNvSpPr>
          <p:nvPr>
            <p:ph type="sldNum" sz="quarter" idx="4"/>
            <p:custDataLst>
              <p:tags r:id="rId4"/>
            </p:custDataLst>
          </p:nvPr>
        </p:nvSpPr>
        <p:spPr>
          <a:xfrm>
            <a:off x="8877300" y="6314440"/>
            <a:ext cx="2711450" cy="316865"/>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556" y="482601"/>
            <a:ext cx="10972888" cy="711206"/>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607060" y="1524000"/>
            <a:ext cx="5257842" cy="914407"/>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540000"/>
            <a:ext cx="5257800" cy="370843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324411" y="1523712"/>
            <a:ext cx="5257842" cy="914407"/>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324600" y="2540000"/>
            <a:ext cx="5257800" cy="370843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9" name="日期占位符 18"/>
          <p:cNvSpPr>
            <a:spLocks noGrp="1"/>
          </p:cNvSpPr>
          <p:nvPr>
            <p:ph type="dt" sz="half" idx="10"/>
            <p:custDataLst>
              <p:tags r:id="rId2"/>
            </p:custDataLst>
          </p:nvPr>
        </p:nvSpPr>
        <p:spPr>
          <a:xfrm>
            <a:off x="603250" y="6314440"/>
            <a:ext cx="2708910" cy="316865"/>
          </a:xfrm>
        </p:spPr>
        <p:txBody>
          <a:bodyPr/>
          <a:lstStyle/>
          <a:p>
            <a:fld id="{760FBDFE-C587-4B4C-A407-44438C67B59E}" type="datetimeFigureOut">
              <a:rPr lang="zh-CN" altLang="en-US" smtClean="0"/>
            </a:fld>
            <a:endParaRPr lang="zh-CN" altLang="en-US"/>
          </a:p>
        </p:txBody>
      </p:sp>
      <p:sp>
        <p:nvSpPr>
          <p:cNvPr id="20" name="页脚占位符 19"/>
          <p:cNvSpPr>
            <a:spLocks noGrp="1"/>
          </p:cNvSpPr>
          <p:nvPr>
            <p:ph type="ftr" sz="quarter" idx="11"/>
            <p:custDataLst>
              <p:tags r:id="rId3"/>
            </p:custDataLst>
          </p:nvPr>
        </p:nvSpPr>
        <p:spPr/>
        <p:txBody>
          <a:bodyPr/>
          <a:lstStyle/>
          <a:p>
            <a:endParaRPr lang="zh-CN" altLang="en-US"/>
          </a:p>
        </p:txBody>
      </p:sp>
      <p:sp>
        <p:nvSpPr>
          <p:cNvPr id="21" name="灯片编号占位符 20"/>
          <p:cNvSpPr>
            <a:spLocks noGrp="1"/>
          </p:cNvSpPr>
          <p:nvPr>
            <p:ph type="sldNum" sz="quarter" idx="12"/>
            <p:custDataLst>
              <p:tags r:id="rId4"/>
            </p:custDataLst>
          </p:nvPr>
        </p:nvSpPr>
        <p:spPr>
          <a:xfrm>
            <a:off x="8877300" y="6314440"/>
            <a:ext cx="2709545" cy="316865"/>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556" y="482473"/>
            <a:ext cx="10972888" cy="711206"/>
          </a:xfrm>
        </p:spPr>
        <p:txBody>
          <a:bodyPr/>
          <a:lstStyle/>
          <a:p>
            <a:r>
              <a:rPr lang="zh-CN" altLang="en-US"/>
              <a:t>单击此处编辑母版标题样式</a:t>
            </a:r>
            <a:endParaRPr lang="zh-CN" altLang="en-US"/>
          </a:p>
        </p:txBody>
      </p:sp>
      <p:sp>
        <p:nvSpPr>
          <p:cNvPr id="3" name="日期占位符 2"/>
          <p:cNvSpPr>
            <a:spLocks noGrp="1"/>
          </p:cNvSpPr>
          <p:nvPr>
            <p:ph type="dt" sz="half" idx="2"/>
            <p:custDataLst>
              <p:tags r:id="rId2"/>
            </p:custDataLst>
          </p:nvPr>
        </p:nvSpPr>
        <p:spPr>
          <a:xfrm>
            <a:off x="605155" y="6314440"/>
            <a:ext cx="2707005" cy="316865"/>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7" name="页脚占位符 6"/>
          <p:cNvSpPr>
            <a:spLocks noGrp="1"/>
          </p:cNvSpPr>
          <p:nvPr>
            <p:ph type="ftr" sz="quarter" idx="3"/>
            <p:custDataLst>
              <p:tags r:id="rId3"/>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11" name="灯片编号占位符 10"/>
          <p:cNvSpPr>
            <a:spLocks noGrp="1"/>
          </p:cNvSpPr>
          <p:nvPr>
            <p:ph type="sldNum" sz="quarter" idx="4"/>
            <p:custDataLst>
              <p:tags r:id="rId4"/>
            </p:custDataLst>
          </p:nvPr>
        </p:nvSpPr>
        <p:spPr>
          <a:xfrm>
            <a:off x="8877300" y="6314440"/>
            <a:ext cx="2711450" cy="316865"/>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584" y="609457"/>
            <a:ext cx="3556028"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4772660" y="609600"/>
            <a:ext cx="6807254" cy="5638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09600" y="2311400"/>
            <a:ext cx="3556000" cy="3937031"/>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30" name="页脚占位符 29"/>
          <p:cNvSpPr>
            <a:spLocks noGrp="1"/>
          </p:cNvSpPr>
          <p:nvPr>
            <p:ph type="ftr" sz="quarter" idx="3"/>
            <p:custDataLst>
              <p:tags r:id="rId2"/>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31" name="灯片编号占位符 30"/>
          <p:cNvSpPr>
            <a:spLocks noGrp="1"/>
          </p:cNvSpPr>
          <p:nvPr>
            <p:ph type="sldNum" sz="quarter" idx="4"/>
            <p:custDataLst>
              <p:tags r:id="rId3"/>
            </p:custDataLst>
          </p:nvPr>
        </p:nvSpPr>
        <p:spPr>
          <a:xfrm>
            <a:off x="8877300" y="6314440"/>
            <a:ext cx="2711450" cy="316865"/>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
        <p:nvSpPr>
          <p:cNvPr id="32" name="日期占位符 31"/>
          <p:cNvSpPr>
            <a:spLocks noGrp="1"/>
          </p:cNvSpPr>
          <p:nvPr>
            <p:ph type="dt" sz="half" idx="10"/>
            <p:custDataLst>
              <p:tags r:id="rId4"/>
            </p:custDataLst>
          </p:nvPr>
        </p:nvSpPr>
        <p:spPr>
          <a:xfrm>
            <a:off x="603250" y="6314440"/>
            <a:ext cx="2708910" cy="316865"/>
          </a:xfrm>
        </p:spPr>
        <p:txBody>
          <a:bodyPr/>
          <a:lstStyle/>
          <a:p>
            <a:fld id="{760FBDFE-C587-4B4C-A407-44438C67B59E}" type="datetimeFigureOut">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547860" y="609600"/>
            <a:ext cx="2032016" cy="563884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609600"/>
            <a:ext cx="8636069" cy="56388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2"/>
            <p:custDataLst>
              <p:tags r:id="rId2"/>
            </p:custDataLst>
          </p:nvPr>
        </p:nvSpPr>
        <p:spPr>
          <a:xfrm>
            <a:off x="605155" y="6314440"/>
            <a:ext cx="2707005" cy="316865"/>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11" name="页脚占位符 10"/>
          <p:cNvSpPr>
            <a:spLocks noGrp="1"/>
          </p:cNvSpPr>
          <p:nvPr>
            <p:ph type="ftr" sz="quarter" idx="3"/>
            <p:custDataLst>
              <p:tags r:id="rId3"/>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12" name="灯片编号占位符 11"/>
          <p:cNvSpPr>
            <a:spLocks noGrp="1"/>
          </p:cNvSpPr>
          <p:nvPr>
            <p:ph type="sldNum" sz="quarter" idx="4"/>
            <p:custDataLst>
              <p:tags r:id="rId4"/>
            </p:custDataLst>
          </p:nvPr>
        </p:nvSpPr>
        <p:spPr>
          <a:xfrm>
            <a:off x="8877300" y="6314440"/>
            <a:ext cx="2711450" cy="316865"/>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09600" y="609600"/>
            <a:ext cx="10973435" cy="5638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2" name="日期占位符 11"/>
          <p:cNvSpPr>
            <a:spLocks noGrp="1"/>
          </p:cNvSpPr>
          <p:nvPr>
            <p:ph type="dt" sz="half" idx="2"/>
            <p:custDataLst>
              <p:tags r:id="rId2"/>
            </p:custDataLst>
          </p:nvPr>
        </p:nvSpPr>
        <p:spPr>
          <a:xfrm>
            <a:off x="605155" y="6314440"/>
            <a:ext cx="2707005" cy="316865"/>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13" name="页脚占位符 12"/>
          <p:cNvSpPr>
            <a:spLocks noGrp="1"/>
          </p:cNvSpPr>
          <p:nvPr>
            <p:ph type="ftr" sz="quarter" idx="3"/>
            <p:custDataLst>
              <p:tags r:id="rId3"/>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14" name="灯片编号占位符 13"/>
          <p:cNvSpPr>
            <a:spLocks noGrp="1"/>
          </p:cNvSpPr>
          <p:nvPr>
            <p:ph type="sldNum" sz="quarter" idx="4"/>
            <p:custDataLst>
              <p:tags r:id="rId4"/>
            </p:custDataLst>
          </p:nvPr>
        </p:nvSpPr>
        <p:spPr>
          <a:xfrm>
            <a:off x="8877300" y="6314440"/>
            <a:ext cx="2711450" cy="316865"/>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tags" Target="../tags/tag33.xml"/><Relationship Id="rId12" Type="http://schemas.openxmlformats.org/officeDocument/2006/relationships/tags" Target="../tags/tag32.xml"/><Relationship Id="rId11" Type="http://schemas.openxmlformats.org/officeDocument/2006/relationships/tags" Target="../tags/tag3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日期占位符 3"/>
          <p:cNvSpPr>
            <a:spLocks noGrp="1"/>
          </p:cNvSpPr>
          <p:nvPr>
            <p:ph type="dt" sz="half" idx="2"/>
            <p:custDataLst>
              <p:tags r:id="rId11"/>
            </p:custDataLst>
          </p:nvPr>
        </p:nvSpPr>
        <p:spPr>
          <a:xfrm>
            <a:off x="605155" y="6314440"/>
            <a:ext cx="2707005" cy="316865"/>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2"/>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3"/>
            </p:custDataLst>
          </p:nvPr>
        </p:nvSpPr>
        <p:spPr>
          <a:xfrm>
            <a:off x="8877300" y="6314440"/>
            <a:ext cx="2711450" cy="316865"/>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
        <p:nvSpPr>
          <p:cNvPr id="2" name="标题占位符 1"/>
          <p:cNvSpPr>
            <a:spLocks noGrp="1"/>
          </p:cNvSpPr>
          <p:nvPr>
            <p:ph type="title"/>
          </p:nvPr>
        </p:nvSpPr>
        <p:spPr>
          <a:xfrm>
            <a:off x="609556" y="482473"/>
            <a:ext cx="10972888" cy="711206"/>
          </a:xfrm>
          <a:prstGeom prst="rect">
            <a:avLst/>
          </a:prstGeom>
        </p:spPr>
        <p:txBody>
          <a:bodyPr vert="horz" lIns="91440" tIns="45720" rIns="91440" bIns="45720" rtlCol="0" anchor="ctr">
            <a:no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09556" y="1524000"/>
            <a:ext cx="10972888" cy="4724438"/>
          </a:xfrm>
          <a:prstGeom prst="rect">
            <a:avLst/>
          </a:prstGeom>
        </p:spPr>
        <p:txBody>
          <a:bodyPr vert="horz" lIns="91440" tIns="45720" rIns="91440" bIns="45720" rtlCol="0">
            <a:no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altLang="zh-CN" dirty="0"/>
          </a:p>
          <a:p>
            <a:pPr lvl="5"/>
            <a:r>
              <a:rPr lang="zh-CN" altLang="en-US" dirty="0"/>
              <a:t>第六级</a:t>
            </a:r>
            <a:endParaRPr lang="en-US" altLang="zh-CN" dirty="0"/>
          </a:p>
          <a:p>
            <a:pPr marL="2971800" marR="0" lvl="6"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r>
              <a:rPr lang="zh-CN" altLang="en-US" dirty="0"/>
              <a:t>第七级</a:t>
            </a:r>
            <a:endParaRPr lang="en-US" altLang="zh-CN" dirty="0"/>
          </a:p>
          <a:p>
            <a:pPr marL="3429000" marR="0" lvl="7"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r>
              <a:rPr lang="zh-CN" altLang="en-US" dirty="0"/>
              <a:t>第八级</a:t>
            </a:r>
            <a:endParaRPr lang="en-US" altLang="zh-CN" dirty="0"/>
          </a:p>
          <a:p>
            <a:pPr marL="3886200" marR="0" lvl="8"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r>
              <a:rPr lang="zh-CN" altLang="en-US" dirty="0"/>
              <a:t>第九级</a:t>
            </a:r>
            <a:endParaRPr lang="en-US" altLang="zh-CN" dirty="0"/>
          </a:p>
          <a:p>
            <a:pPr marL="3886200" marR="0" lvl="8"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endParaRPr lang="en-US" altLang="zh-CN" dirty="0"/>
          </a:p>
          <a:p>
            <a:pPr lvl="5"/>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100000"/>
        </a:lnSpc>
        <a:spcBef>
          <a:spcPct val="0"/>
        </a:spcBef>
        <a:buNone/>
        <a:defRPr sz="3600" kern="1200">
          <a:solidFill>
            <a:schemeClr val="tx1"/>
          </a:solidFill>
          <a:latin typeface="微软雅黑" panose="020B0503020204020204" charset="-122"/>
          <a:ea typeface="微软雅黑" panose="020B050302020402020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5pPr>
      <a:lvl6pPr marL="25146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lang="zh-CN" altLang="en-US" sz="2400" kern="1200" dirty="0">
          <a:solidFill>
            <a:schemeClr val="tx1"/>
          </a:solidFill>
          <a:latin typeface="微软雅黑" panose="020B0503020204020204" charset="-122"/>
          <a:ea typeface="微软雅黑" panose="020B0503020204020204" charset="-122"/>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n-US" altLang="zh-CN" sz="2400" kern="1200" dirty="0" smtClean="0">
          <a:solidFill>
            <a:schemeClr val="tx1"/>
          </a:solidFill>
          <a:latin typeface="微软雅黑" panose="020B0503020204020204" charset="-122"/>
          <a:ea typeface="微软雅黑" panose="020B0503020204020204" charset="-122"/>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n-US" altLang="zh-CN" sz="2400" kern="1200" dirty="0" smtClean="0">
          <a:solidFill>
            <a:schemeClr val="tx1"/>
          </a:solidFill>
          <a:latin typeface="微软雅黑" panose="020B0503020204020204" charset="-122"/>
          <a:ea typeface="微软雅黑" panose="020B0503020204020204" charset="-122"/>
          <a:cs typeface="+mn-cs"/>
        </a:defRPr>
      </a:lvl8pPr>
      <a:lvl9pPr marL="3657600" indent="0" algn="l" defTabSz="914400" rtl="0" eaLnBrk="1" latinLnBrk="0" hangingPunct="1">
        <a:lnSpc>
          <a:spcPct val="90000"/>
        </a:lnSpc>
        <a:spcBef>
          <a:spcPts val="500"/>
        </a:spcBef>
        <a:buFont typeface="Arial" panose="020B0604020202020204" pitchFamily="34" charset="0"/>
        <a:buNone/>
        <a:defRPr lang="en-US" altLang="zh-CN" sz="2400" kern="1200" dirty="0" smtClean="0">
          <a:solidFill>
            <a:schemeClr val="tx1"/>
          </a:solidFill>
          <a:latin typeface="微软雅黑" panose="020B0503020204020204" charset="-122"/>
          <a:ea typeface="微软雅黑" panose="020B0503020204020204" charset="-122"/>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12.png"/><Relationship Id="rId6" Type="http://schemas.openxmlformats.org/officeDocument/2006/relationships/image" Target="../media/image6.png"/><Relationship Id="rId5" Type="http://schemas.openxmlformats.org/officeDocument/2006/relationships/image" Target="../media/image11.png"/><Relationship Id="rId4" Type="http://schemas.openxmlformats.org/officeDocument/2006/relationships/image" Target="../media/image4.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17.png"/><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5.png"/><Relationship Id="rId3"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image" Target="../media/image13.png"/></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image" Target="../media/image18.png"/></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 Id="rId3" Type="http://schemas.openxmlformats.org/officeDocument/2006/relationships/image" Target="../media/image26.png"/><Relationship Id="rId2" Type="http://schemas.openxmlformats.org/officeDocument/2006/relationships/image" Target="../media/image3.png"/><Relationship Id="rId1" Type="http://schemas.openxmlformats.org/officeDocument/2006/relationships/image" Target="../media/image25.png"/></Relationships>
</file>

<file path=ppt/slides/_rels/slide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 Id="rId3" Type="http://schemas.openxmlformats.org/officeDocument/2006/relationships/image" Target="../media/image30.png"/><Relationship Id="rId2" Type="http://schemas.openxmlformats.org/officeDocument/2006/relationships/image" Target="../media/image3.png"/><Relationship Id="rId1" Type="http://schemas.openxmlformats.org/officeDocument/2006/relationships/image" Target="../media/image29.png"/></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 Id="rId3" Type="http://schemas.openxmlformats.org/officeDocument/2006/relationships/image" Target="../media/image35.png"/><Relationship Id="rId2" Type="http://schemas.openxmlformats.org/officeDocument/2006/relationships/image" Target="../media/image3.png"/><Relationship Id="rId1" Type="http://schemas.openxmlformats.org/officeDocument/2006/relationships/image" Target="../media/image34.png"/></Relationships>
</file>

<file path=ppt/slides/_rels/slide11.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9" Type="http://schemas.openxmlformats.org/officeDocument/2006/relationships/image" Target="../media/image50.png"/><Relationship Id="rId8" Type="http://schemas.openxmlformats.org/officeDocument/2006/relationships/image" Target="../media/image49.png"/><Relationship Id="rId7" Type="http://schemas.openxmlformats.org/officeDocument/2006/relationships/image" Target="../media/image48.png"/><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3.png"/><Relationship Id="rId3" Type="http://schemas.openxmlformats.org/officeDocument/2006/relationships/image" Target="../media/image45.png"/><Relationship Id="rId2" Type="http://schemas.openxmlformats.org/officeDocument/2006/relationships/image" Target="../media/image44.png"/><Relationship Id="rId16" Type="http://schemas.openxmlformats.org/officeDocument/2006/relationships/slideLayout" Target="../slideLayouts/slideLayout2.xml"/><Relationship Id="rId15" Type="http://schemas.openxmlformats.org/officeDocument/2006/relationships/image" Target="../media/image56.png"/><Relationship Id="rId14" Type="http://schemas.openxmlformats.org/officeDocument/2006/relationships/image" Target="../media/image55.png"/><Relationship Id="rId13" Type="http://schemas.openxmlformats.org/officeDocument/2006/relationships/image" Target="../media/image54.png"/><Relationship Id="rId12" Type="http://schemas.openxmlformats.org/officeDocument/2006/relationships/image" Target="../media/image53.png"/><Relationship Id="rId11" Type="http://schemas.openxmlformats.org/officeDocument/2006/relationships/image" Target="../media/image52.png"/><Relationship Id="rId10" Type="http://schemas.openxmlformats.org/officeDocument/2006/relationships/image" Target="../media/image51.png"/><Relationship Id="rId1" Type="http://schemas.openxmlformats.org/officeDocument/2006/relationships/image" Target="../media/image43.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7.png"/><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5" name=""/>
        <p:cNvGrpSpPr/>
        <p:nvPr/>
      </p:nvGrpSpPr>
      <p:grpSpPr/>
      <p:sp>
        <p:nvSpPr>
          <p:cNvPr id="1048586" name="标题 1"/>
          <p:cNvSpPr>
            <a:spLocks noGrp="1"/>
          </p:cNvSpPr>
          <p:nvPr>
            <p:ph type="ctrTitle"/>
          </p:nvPr>
        </p:nvSpPr>
        <p:spPr>
          <a:xfrm>
            <a:off x="0" y="1404554"/>
            <a:ext cx="12191972" cy="3324071"/>
          </a:xfrm>
        </p:spPr>
        <p:txBody>
          <a:bodyPr/>
          <a:p>
            <a:r>
              <a:rPr lang="en-US" altLang="zh-CN" sz="4000"/>
              <a:t>Maxwell–Boltzmann Speed Distributions </a:t>
            </a:r>
            <a:br>
              <a:rPr lang="en-US" altLang="zh-CN" sz="4000"/>
            </a:br>
            <a:br>
              <a:rPr lang="en-US" altLang="zh-CN" sz="3600"/>
            </a:br>
            <a:br>
              <a:rPr lang="en-US" altLang="zh-CN" sz="2600"/>
            </a:br>
            <a:br>
              <a:rPr lang="en-US" altLang="zh-CN" sz="1600"/>
            </a:br>
            <a:endParaRPr lang="en-US" altLang="zh-CN" sz="2200">
              <a:solidFill>
                <a:schemeClr val="bg1">
                  <a:lumMod val="50000"/>
                </a:schemeClr>
              </a:solidFill>
            </a:endParaRPr>
          </a:p>
        </p:txBody>
      </p:sp>
      <p:sp>
        <p:nvSpPr>
          <p:cNvPr id="1048587" name="副标题 2"/>
          <p:cNvSpPr>
            <a:spLocks noGrp="1"/>
          </p:cNvSpPr>
          <p:nvPr>
            <p:ph type="subTitle" idx="1"/>
          </p:nvPr>
        </p:nvSpPr>
        <p:spPr>
          <a:xfrm>
            <a:off x="1523972" y="4946210"/>
            <a:ext cx="9144000" cy="1462952"/>
          </a:xfrm>
        </p:spPr>
        <p:txBody>
          <a:bodyPr/>
          <a:p>
            <a:r>
              <a:rPr lang="en-US" altLang="zh-CN"/>
              <a:t>Yuxuan Zhang</a:t>
            </a:r>
            <a:endParaRPr lang="en-US" altLang="zh-CN"/>
          </a:p>
          <a:p>
            <a:r>
              <a:rPr lang="en-US" altLang="zh-CN"/>
              <a:t>Yiyi Liang</a:t>
            </a:r>
            <a:endParaRPr lang="en-US" altLang="zh-CN"/>
          </a:p>
          <a:p>
            <a:r>
              <a:rPr lang="en-US" altLang="zh-CN"/>
              <a:t>29.07.2026</a:t>
            </a:r>
            <a:endParaRPr lang="en-US" altLang="zh-CN"/>
          </a:p>
          <a:p>
            <a:endParaRPr lang="en-US" altLang="zh-CN"/>
          </a:p>
        </p:txBody>
      </p:sp>
      <p:pic>
        <p:nvPicPr>
          <p:cNvPr id="2097152" name="图片 22"/>
          <p:cNvPicPr>
            <a:picLocks noChangeAspect="1"/>
          </p:cNvPicPr>
          <p:nvPr/>
        </p:nvPicPr>
        <p:blipFill>
          <a:blip r:embed="rId1"/>
          <a:stretch>
            <a:fillRect/>
          </a:stretch>
        </p:blipFill>
        <p:spPr>
          <a:xfrm>
            <a:off x="7218850" y="0"/>
            <a:ext cx="4973150" cy="1315443"/>
          </a:xfrm>
          <a:prstGeom prst="rect">
            <a:avLst/>
          </a:prstGeom>
        </p:spPr>
      </p:pic>
      <p:sp>
        <p:nvSpPr>
          <p:cNvPr id="1048588" name="矩形 3"/>
          <p:cNvSpPr/>
          <p:nvPr userDrawn="1"/>
        </p:nvSpPr>
        <p:spPr>
          <a:xfrm>
            <a:off x="544825" y="4257738"/>
            <a:ext cx="11102340" cy="83412"/>
          </a:xfrm>
          <a:prstGeom prst="rect">
            <a:avLst/>
          </a:prstGeom>
          <a:solidFill>
            <a:srgbClr val="C8DA43">
              <a:alpha val="100000"/>
            </a:srgbClr>
          </a:solidFill>
          <a:ln w="12700"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p>
            <a:pPr algn="ctr"/>
            <a:endParaRPr lang="zh-CN" altLang="en-US">
              <a:solidFill>
                <a:srgbClr val="D6FA37"/>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descr="post_object_image_1032957736"/>
          <p:cNvPicPr>
            <a:picLocks noChangeAspect="1"/>
          </p:cNvPicPr>
          <p:nvPr/>
        </p:nvPicPr>
        <p:blipFill>
          <a:blip r:embed="rId1"/>
          <a:stretch>
            <a:fillRect/>
          </a:stretch>
        </p:blipFill>
        <p:spPr>
          <a:xfrm>
            <a:off x="2520633" y="4607783"/>
            <a:ext cx="7296150" cy="1971675"/>
          </a:xfrm>
          <a:prstGeom prst="rect">
            <a:avLst/>
          </a:prstGeom>
        </p:spPr>
      </p:pic>
      <p:sp>
        <p:nvSpPr>
          <p:cNvPr id="2" name="标题 1"/>
          <p:cNvSpPr>
            <a:spLocks noGrp="1"/>
          </p:cNvSpPr>
          <p:nvPr>
            <p:ph type="title"/>
          </p:nvPr>
        </p:nvSpPr>
        <p:spPr>
          <a:xfrm>
            <a:off x="609600" y="291957"/>
            <a:ext cx="10972888" cy="711206"/>
          </a:xfrm>
        </p:spPr>
        <p:txBody>
          <a:bodyPr/>
          <a:p>
            <a:r>
              <a:rPr lang="en-US" altLang="zh-CN" sz="2400"/>
              <a:t>1. Introduction</a:t>
            </a:r>
            <a:endParaRPr lang="zh-CN" altLang="en-US" sz="2400"/>
          </a:p>
        </p:txBody>
      </p:sp>
      <p:sp>
        <p:nvSpPr>
          <p:cNvPr id="3" name="内容占位符 2"/>
          <p:cNvSpPr>
            <a:spLocks noGrp="1"/>
          </p:cNvSpPr>
          <p:nvPr>
            <p:ph idx="1"/>
          </p:nvPr>
        </p:nvSpPr>
        <p:spPr>
          <a:xfrm>
            <a:off x="682263" y="1336516"/>
            <a:ext cx="10972888" cy="4914938"/>
          </a:xfrm>
        </p:spPr>
        <p:txBody>
          <a:bodyPr/>
          <a:p>
            <a:pPr marL="0" indent="0">
              <a:buNone/>
            </a:pPr>
            <a:r>
              <a:rPr lang="en-US" altLang="zh-CN" sz="1600"/>
              <a:t>The Gaussian distribution is</a:t>
            </a:r>
            <a:endParaRPr lang="en-US" altLang="zh-CN" sz="1600"/>
          </a:p>
          <a:p>
            <a:pPr marL="0" indent="0">
              <a:buNone/>
            </a:pPr>
            <a:endParaRPr lang="en-US" altLang="zh-CN" sz="1600"/>
          </a:p>
          <a:p>
            <a:pPr marL="0" indent="0">
              <a:buNone/>
            </a:pPr>
            <a:r>
              <a:rPr lang="en-US" altLang="zh-CN" sz="1600"/>
              <a:t>The Maxwell–Boltzmann speed distribution is</a:t>
            </a:r>
            <a:endParaRPr lang="en-US" altLang="zh-CN" sz="1600"/>
          </a:p>
          <a:p>
            <a:pPr marL="0" indent="0">
              <a:buNone/>
            </a:pPr>
            <a:endParaRPr lang="en-US" altLang="zh-CN" sz="1600"/>
          </a:p>
          <a:p>
            <a:pPr marL="0" indent="0">
              <a:buNone/>
            </a:pPr>
            <a:r>
              <a:rPr lang="en-US" altLang="zh-CN" sz="1600"/>
              <a:t>Here, </a:t>
            </a:r>
            <a:endParaRPr lang="en-US" altLang="zh-CN" sz="1600"/>
          </a:p>
          <a:p>
            <a:pPr marL="0" indent="0">
              <a:buNone/>
            </a:pPr>
            <a:endParaRPr lang="en-US" altLang="zh-CN" sz="1600"/>
          </a:p>
          <a:p>
            <a:pPr marL="0" indent="0">
              <a:buNone/>
            </a:pPr>
            <a:endParaRPr lang="en-US" altLang="zh-CN" sz="1600"/>
          </a:p>
          <a:p>
            <a:pPr marL="0" indent="0">
              <a:buNone/>
            </a:pPr>
            <a:r>
              <a:rPr lang="en-US" altLang="zh-CN" sz="1600"/>
              <a:t>where R is the gas constant, T is the absolute temperature, and M is the molar mass of the particles.</a:t>
            </a:r>
            <a:endParaRPr lang="en-US" altLang="zh-CN" sz="1600"/>
          </a:p>
          <a:p>
            <a:pPr marL="0" indent="0">
              <a:buNone/>
            </a:pPr>
            <a:endParaRPr lang="en-US" altLang="zh-CN" sz="1600"/>
          </a:p>
          <a:p>
            <a:pPr marL="0" indent="0">
              <a:buNone/>
            </a:pPr>
            <a:r>
              <a:rPr lang="en-US" altLang="zh-CN" sz="1600"/>
              <a:t>What  do we want to discuss?</a:t>
            </a:r>
            <a:endParaRPr lang="en-US" altLang="zh-CN" sz="1600"/>
          </a:p>
        </p:txBody>
      </p:sp>
      <p:pic>
        <p:nvPicPr>
          <p:cNvPr id="2097160" name="picture 220"/>
          <p:cNvPicPr>
            <a:picLocks noChangeAspect="1"/>
          </p:cNvPicPr>
          <p:nvPr/>
        </p:nvPicPr>
        <p:blipFill>
          <a:blip r:embed="rId2"/>
          <a:stretch>
            <a:fillRect/>
          </a:stretch>
        </p:blipFill>
        <p:spPr>
          <a:xfrm rot="21600000">
            <a:off x="9816775" y="0"/>
            <a:ext cx="2342909" cy="621220"/>
          </a:xfrm>
          <a:prstGeom prst="rect">
            <a:avLst/>
          </a:prstGeom>
        </p:spPr>
      </p:pic>
      <p:pic>
        <p:nvPicPr>
          <p:cNvPr id="31" name="图片 30" descr="post_object_image_229064652"/>
          <p:cNvPicPr>
            <a:picLocks noChangeAspect="1"/>
          </p:cNvPicPr>
          <p:nvPr/>
        </p:nvPicPr>
        <p:blipFill>
          <a:blip r:embed="rId3"/>
          <a:stretch>
            <a:fillRect/>
          </a:stretch>
        </p:blipFill>
        <p:spPr>
          <a:xfrm>
            <a:off x="3744958" y="1173324"/>
            <a:ext cx="2692400" cy="619417"/>
          </a:xfrm>
          <a:prstGeom prst="rect">
            <a:avLst/>
          </a:prstGeom>
        </p:spPr>
      </p:pic>
      <p:pic>
        <p:nvPicPr>
          <p:cNvPr id="14" name="图片 13" descr="post_object_image_1398920637"/>
          <p:cNvPicPr>
            <a:picLocks noChangeAspect="1"/>
          </p:cNvPicPr>
          <p:nvPr/>
        </p:nvPicPr>
        <p:blipFill>
          <a:blip r:embed="rId4"/>
          <a:stretch>
            <a:fillRect/>
          </a:stretch>
        </p:blipFill>
        <p:spPr>
          <a:xfrm>
            <a:off x="5330599" y="1969633"/>
            <a:ext cx="3698875" cy="672523"/>
          </a:xfrm>
          <a:prstGeom prst="rect">
            <a:avLst/>
          </a:prstGeom>
        </p:spPr>
      </p:pic>
      <p:pic>
        <p:nvPicPr>
          <p:cNvPr id="33" name="图片 32" descr="post_object_image_3708044122"/>
          <p:cNvPicPr>
            <a:picLocks noChangeAspect="1"/>
          </p:cNvPicPr>
          <p:nvPr/>
        </p:nvPicPr>
        <p:blipFill>
          <a:blip r:embed="rId5"/>
          <a:stretch>
            <a:fillRect/>
          </a:stretch>
        </p:blipFill>
        <p:spPr>
          <a:xfrm>
            <a:off x="3978275" y="2816781"/>
            <a:ext cx="1449243" cy="75912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09606" y="385672"/>
            <a:ext cx="10972888" cy="711206"/>
          </a:xfrm>
        </p:spPr>
        <p:txBody>
          <a:bodyPr/>
          <a:p>
            <a:r>
              <a:rPr lang="en-US" altLang="zh-CN"/>
              <a:t>2. Procedure and Methods</a:t>
            </a:r>
            <a:endParaRPr lang="en-US" altLang="zh-CN"/>
          </a:p>
        </p:txBody>
      </p:sp>
      <p:sp>
        <p:nvSpPr>
          <p:cNvPr id="3" name="内容占位符 2"/>
          <p:cNvSpPr>
            <a:spLocks noGrp="1"/>
          </p:cNvSpPr>
          <p:nvPr>
            <p:ph idx="1"/>
          </p:nvPr>
        </p:nvSpPr>
        <p:spPr>
          <a:xfrm>
            <a:off x="609600" y="1301577"/>
            <a:ext cx="6264817" cy="1194077"/>
          </a:xfrm>
        </p:spPr>
        <p:txBody>
          <a:bodyPr/>
          <a:p>
            <a:pPr>
              <a:buFont typeface="Arial" panose="020B0604020202020204" pitchFamily="34" charset="0"/>
              <a:buChar char="•"/>
            </a:pPr>
            <a:r>
              <a:rPr lang="en-US" altLang="zh-CN" sz="1800">
                <a:cs typeface="Arial" panose="020B0604020202020204" pitchFamily="34" charset="0"/>
              </a:rPr>
              <a:t>Extraction of the Equilibrated Part of the Trajectory</a:t>
            </a:r>
            <a:endParaRPr lang="zh-CN" altLang="en-US" sz="1800">
              <a:cs typeface="Arial" panose="020B0604020202020204" pitchFamily="34" charset="0"/>
            </a:endParaRPr>
          </a:p>
          <a:p>
            <a:pPr>
              <a:buFont typeface="Arial" panose="020B0604020202020204" pitchFamily="34" charset="0"/>
              <a:buChar char="•"/>
            </a:pPr>
            <a:r>
              <a:rPr lang="en-US" altLang="zh-CN" sz="1800">
                <a:cs typeface="Arial" panose="020B0604020202020204" pitchFamily="34" charset="0"/>
              </a:rPr>
              <a:t>Choice of Initial Conditions and Time Step</a:t>
            </a:r>
            <a:endParaRPr lang="zh-CN" altLang="en-US" sz="1800"/>
          </a:p>
          <a:p>
            <a:pPr>
              <a:buFont typeface="Arial" panose="020B0604020202020204" pitchFamily="34" charset="0"/>
              <a:buChar char="•"/>
            </a:pPr>
            <a:r>
              <a:rPr lang="en-US" altLang="zh-CN" sz="1800"/>
              <a:t>All data were subjected to quantitative error analysis.</a:t>
            </a:r>
            <a:endParaRPr lang="zh-CN" altLang="en-US"/>
          </a:p>
          <a:p>
            <a:pPr>
              <a:buFont typeface="Arial" panose="020B0604020202020204" pitchFamily="34" charset="0"/>
              <a:buChar char="•"/>
            </a:pPr>
            <a:endParaRPr lang="zh-CN" altLang="en-US"/>
          </a:p>
        </p:txBody>
      </p:sp>
      <p:pic>
        <p:nvPicPr>
          <p:cNvPr id="2097160" name="picture 220"/>
          <p:cNvPicPr>
            <a:picLocks noChangeAspect="1"/>
          </p:cNvPicPr>
          <p:nvPr/>
        </p:nvPicPr>
        <p:blipFill>
          <a:blip r:embed="rId1"/>
          <a:stretch>
            <a:fillRect/>
          </a:stretch>
        </p:blipFill>
        <p:spPr>
          <a:xfrm rot="21600000">
            <a:off x="9816775" y="0"/>
            <a:ext cx="2342909" cy="621220"/>
          </a:xfrm>
          <a:prstGeom prst="rect">
            <a:avLst/>
          </a:prstGeom>
        </p:spPr>
      </p:pic>
      <p:sp>
        <p:nvSpPr>
          <p:cNvPr id="4" name="标题 1"/>
          <p:cNvSpPr>
            <a:spLocks noGrp="1"/>
          </p:cNvSpPr>
          <p:nvPr/>
        </p:nvSpPr>
        <p:spPr>
          <a:xfrm>
            <a:off x="609600" y="3073397"/>
            <a:ext cx="10972888" cy="711206"/>
          </a:xfrm>
          <a:prstGeom prst="rect">
            <a:avLst/>
          </a:prstGeom>
        </p:spPr>
        <p:txBody>
          <a:bodyPr vert="horz" lIns="91440" tIns="45720" rIns="91440" bIns="45720" rtlCol="0" anchor="ctr">
            <a:noAutofit/>
          </a:bodyPr>
          <a:lstStyle>
            <a:lvl1pPr algn="l" defTabSz="914400" rtl="0" eaLnBrk="1" latinLnBrk="0" hangingPunct="1">
              <a:lnSpc>
                <a:spcPct val="100000"/>
              </a:lnSpc>
              <a:spcBef>
                <a:spcPct val="0"/>
              </a:spcBef>
              <a:buNone/>
              <a:defRPr sz="3600" kern="1200">
                <a:solidFill>
                  <a:schemeClr val="tx1"/>
                </a:solidFill>
                <a:latin typeface="微软雅黑" panose="020B0503020204020204" charset="-122"/>
                <a:ea typeface="微软雅黑" panose="020B0503020204020204" charset="-122"/>
                <a:cs typeface="+mj-cs"/>
              </a:defRPr>
            </a:lvl1pPr>
          </a:lstStyle>
          <a:p>
            <a:r>
              <a:rPr lang="en-US" altLang="zh-CN"/>
              <a:t>3. Results and Discussion</a:t>
            </a:r>
            <a:endParaRPr lang="en-US" altLang="zh-CN">
              <a:latin typeface="微软雅黑" charset="0"/>
              <a:ea typeface="微软雅黑" charset="0"/>
            </a:endParaRPr>
          </a:p>
        </p:txBody>
      </p:sp>
      <p:sp>
        <p:nvSpPr>
          <p:cNvPr id="5" name="内容占位符 2"/>
          <p:cNvSpPr>
            <a:spLocks noGrp="1"/>
          </p:cNvSpPr>
          <p:nvPr/>
        </p:nvSpPr>
        <p:spPr>
          <a:xfrm>
            <a:off x="609600" y="4039813"/>
            <a:ext cx="10972888" cy="117105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5pPr>
            <a:lvl6pPr marL="25146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lang="zh-CN" altLang="en-US" sz="2400" kern="1200" dirty="0">
                <a:solidFill>
                  <a:schemeClr val="tx1"/>
                </a:solidFill>
                <a:latin typeface="微软雅黑" panose="020B0503020204020204" charset="-122"/>
                <a:ea typeface="微软雅黑" panose="020B0503020204020204" charset="-122"/>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n-US" altLang="zh-CN" sz="2400" kern="1200" dirty="0" smtClean="0">
                <a:solidFill>
                  <a:schemeClr val="tx1"/>
                </a:solidFill>
                <a:latin typeface="微软雅黑" panose="020B0503020204020204" charset="-122"/>
                <a:ea typeface="微软雅黑" panose="020B0503020204020204" charset="-122"/>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n-US" altLang="zh-CN" sz="2400" kern="1200" dirty="0" smtClean="0">
                <a:solidFill>
                  <a:schemeClr val="tx1"/>
                </a:solidFill>
                <a:latin typeface="微软雅黑" panose="020B0503020204020204" charset="-122"/>
                <a:ea typeface="微软雅黑" panose="020B0503020204020204" charset="-122"/>
                <a:cs typeface="+mn-cs"/>
              </a:defRPr>
            </a:lvl8pPr>
            <a:lvl9pPr marL="3657600" indent="0" algn="l" defTabSz="914400" rtl="0" eaLnBrk="1" latinLnBrk="0" hangingPunct="1">
              <a:lnSpc>
                <a:spcPct val="90000"/>
              </a:lnSpc>
              <a:spcBef>
                <a:spcPts val="500"/>
              </a:spcBef>
              <a:buFont typeface="Arial" panose="020B0604020202020204" pitchFamily="34" charset="0"/>
              <a:buNone/>
              <a:defRPr lang="en-US" altLang="zh-CN" sz="2400" kern="1200" dirty="0" smtClean="0">
                <a:solidFill>
                  <a:schemeClr val="tx1"/>
                </a:solidFill>
                <a:latin typeface="微软雅黑" panose="020B0503020204020204" charset="-122"/>
                <a:ea typeface="微软雅黑" panose="020B0503020204020204" charset="-122"/>
                <a:cs typeface="+mn-cs"/>
              </a:defRPr>
            </a:lvl9pPr>
          </a:lstStyle>
          <a:p>
            <a:pPr>
              <a:buFont typeface="Arial" panose="020B0604020202020204" pitchFamily="34" charset="0"/>
              <a:buChar char="•"/>
            </a:pPr>
            <a:r>
              <a:rPr lang="en-US" altLang="zh-CN" sz="1800"/>
              <a:t>verification of the equilibrium velocity distribution</a:t>
            </a:r>
            <a:endParaRPr lang="en-US" altLang="zh-CN" sz="1800"/>
          </a:p>
          <a:p>
            <a:pPr>
              <a:buFont typeface="Arial" panose="020B0604020202020204" pitchFamily="34" charset="0"/>
              <a:buChar char="•"/>
            </a:pPr>
            <a:r>
              <a:rPr lang="en-US" altLang="zh-CN" sz="1800"/>
              <a:t>comparison of different temperatures</a:t>
            </a:r>
            <a:endParaRPr lang="en-US" altLang="zh-CN" sz="1800"/>
          </a:p>
          <a:p>
            <a:pPr>
              <a:buFont typeface="Arial" panose="020B0604020202020204" pitchFamily="34" charset="0"/>
              <a:buChar char="•"/>
            </a:pPr>
            <a:r>
              <a:rPr lang="en-US" altLang="zh-CN" sz="1800"/>
              <a:t>comparison of different particle numbers</a:t>
            </a:r>
            <a:endParaRPr lang="en-US" altLang="zh-CN" sz="1800"/>
          </a:p>
          <a:p>
            <a:pPr>
              <a:buFont typeface="Arial" panose="020B0604020202020204" pitchFamily="34" charset="0"/>
              <a:buChar char="•"/>
            </a:pPr>
            <a:r>
              <a:rPr lang="en-US" altLang="zh-CN" sz="1800"/>
              <a:t>characterization of small-system effects</a:t>
            </a:r>
            <a:endParaRPr lang="zh-CN" altLang="en-US" sz="1800"/>
          </a:p>
          <a:p>
            <a:pPr>
              <a:buFont typeface="Arial" panose="020B0604020202020204" pitchFamily="34" charset="0"/>
              <a:buChar char="•"/>
            </a:pPr>
            <a:r>
              <a:rPr lang="en-US" altLang="zh-CN" sz="1800"/>
              <a:t>comparison of different thermostats</a:t>
            </a:r>
            <a:endParaRPr lang="zh-CN" altLang="en-US"/>
          </a:p>
        </p:txBody>
      </p:sp>
      <p:sp>
        <p:nvSpPr>
          <p:cNvPr id="10" name="文本框 9"/>
          <p:cNvSpPr txBox="1"/>
          <p:nvPr userDrawn="1"/>
        </p:nvSpPr>
        <p:spPr>
          <a:xfrm>
            <a:off x="7138035" y="1033780"/>
            <a:ext cx="4830536" cy="3230245"/>
          </a:xfrm>
          <a:prstGeom prst="rect">
            <a:avLst/>
          </a:prstGeom>
        </p:spPr>
        <p:txBody>
          <a:bodyPr wrap="square" rtlCol="0">
            <a:noAutofit/>
          </a:bodyPr>
          <a:p>
            <a:r>
              <a:rPr lang="en-US" altLang="zh-CN" sz="2400"/>
              <a:t>Error analysis</a:t>
            </a:r>
            <a:endParaRPr lang="en-US" altLang="zh-CN" sz="2400"/>
          </a:p>
          <a:p>
            <a:endParaRPr lang="en-US" altLang="zh-CN"/>
          </a:p>
          <a:p>
            <a:r>
              <a:rPr lang="en-US" altLang="zh-CN"/>
              <a:t>Relative error</a:t>
            </a:r>
            <a:endParaRPr lang="en-US" altLang="zh-CN"/>
          </a:p>
          <a:p>
            <a:r>
              <a:rPr lang="en-US" altLang="zh-CN"/>
              <a:t>Variance</a:t>
            </a:r>
            <a:endParaRPr lang="en-US" altLang="zh-CN"/>
          </a:p>
          <a:p>
            <a:endParaRPr lang="en-US" altLang="zh-CN"/>
          </a:p>
          <a:p>
            <a:r>
              <a:rPr lang="en-US" altLang="zh-CN" b="1">
                <a:solidFill>
                  <a:srgbClr val="C00000"/>
                </a:solidFill>
              </a:rPr>
              <a:t>Kolmogorov–Smirnov deviation</a:t>
            </a:r>
            <a:endParaRPr lang="en-US" altLang="zh-CN" b="1">
              <a:solidFill>
                <a:srgbClr val="C00000"/>
              </a:solidFill>
            </a:endParaRPr>
          </a:p>
          <a:p>
            <a:endParaRPr lang="en-US" altLang="zh-CN" b="1">
              <a:solidFill>
                <a:srgbClr val="C00000"/>
              </a:solidFill>
            </a:endParaRPr>
          </a:p>
          <a:p>
            <a:r>
              <a:rPr lang="en-US" altLang="zh-CN"/>
              <a:t>The Kolmogorov–Smirnov deviation was used to compare the entire simulated distribution with the theoretical distribution:</a:t>
            </a:r>
            <a:endParaRPr lang="en-US" altLang="zh-CN"/>
          </a:p>
          <a:p>
            <a:endParaRPr lang="en-US" altLang="zh-CN"/>
          </a:p>
          <a:p>
            <a:endParaRPr lang="en-US" altLang="zh-CN"/>
          </a:p>
          <a:p>
            <a:r>
              <a:rPr lang="en-US" altLang="zh-CN"/>
              <a:t>Here: </a:t>
            </a:r>
            <a:endParaRPr lang="en-US" altLang="zh-CN"/>
          </a:p>
          <a:p>
            <a:r>
              <a:rPr lang="en-US" altLang="zh-CN"/>
              <a:t>F</a:t>
            </a:r>
            <a:r>
              <a:rPr lang="en-US" altLang="zh-CN" sz="1000"/>
              <a:t>MD</a:t>
            </a:r>
            <a:r>
              <a:rPr lang="en-US" altLang="zh-CN"/>
              <a:t>: is the empirical cumulative distribution function obtained from the simulation data;</a:t>
            </a:r>
            <a:endParaRPr lang="en-US" altLang="zh-CN"/>
          </a:p>
          <a:p>
            <a:r>
              <a:rPr lang="en-US" altLang="zh-CN"/>
              <a:t>F</a:t>
            </a:r>
            <a:r>
              <a:rPr lang="en-US" altLang="zh-CN" sz="1000"/>
              <a:t>theory</a:t>
            </a:r>
            <a:r>
              <a:rPr lang="en-US" altLang="zh-CN"/>
              <a:t>: is the theoretical Gaussian or Maxwell cumulative distribution function.</a:t>
            </a:r>
            <a:endParaRPr lang="en-US" altLang="zh-CN"/>
          </a:p>
        </p:txBody>
      </p:sp>
      <p:pic>
        <p:nvPicPr>
          <p:cNvPr id="12" name="图片 11" descr="post_object_image_1259920272"/>
          <p:cNvPicPr>
            <a:picLocks noChangeAspect="1"/>
          </p:cNvPicPr>
          <p:nvPr/>
        </p:nvPicPr>
        <p:blipFill>
          <a:blip r:embed="rId2"/>
          <a:stretch>
            <a:fillRect/>
          </a:stretch>
        </p:blipFill>
        <p:spPr>
          <a:xfrm>
            <a:off x="7888741" y="4179433"/>
            <a:ext cx="3190875" cy="604139"/>
          </a:xfrm>
          <a:prstGeom prst="rect">
            <a:avLst/>
          </a:prstGeom>
        </p:spPr>
      </p:pic>
      <p:sp>
        <p:nvSpPr>
          <p:cNvPr id="13" name="矩形 12"/>
          <p:cNvSpPr/>
          <p:nvPr userDrawn="1"/>
        </p:nvSpPr>
        <p:spPr>
          <a:xfrm>
            <a:off x="6961324" y="1096872"/>
            <a:ext cx="13607" cy="5143500"/>
          </a:xfrm>
          <a:prstGeom prst="rect">
            <a:avLst/>
          </a:prstGeom>
          <a:solidFill>
            <a:srgbClr val="C8DA43">
              <a:alpha val="100000"/>
            </a:srgbClr>
          </a:solidFill>
          <a:ln w="57150" cmpd="sng">
            <a:solidFill>
              <a:srgbClr val="CCFF00">
                <a:alpha val="100000"/>
              </a:srgbClr>
            </a:solid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p>
            <a:pPr algn="ctr"/>
            <a:endParaRPr lang="zh-CN" altLang="en-US">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281693" y="133207"/>
            <a:ext cx="10972888" cy="711206"/>
          </a:xfrm>
        </p:spPr>
        <p:txBody>
          <a:bodyPr/>
          <a:p>
            <a:r>
              <a:rPr lang="en-US" altLang="zh-CN" sz="2400"/>
              <a:t>3.1. Analysis of the Cartesian Velocity Components</a:t>
            </a:r>
            <a:endParaRPr lang="en-US" altLang="zh-CN" sz="2400"/>
          </a:p>
        </p:txBody>
      </p:sp>
      <p:sp>
        <p:nvSpPr>
          <p:cNvPr id="3" name="内容占位符 2"/>
          <p:cNvSpPr>
            <a:spLocks noGrp="1"/>
          </p:cNvSpPr>
          <p:nvPr>
            <p:ph idx="1"/>
          </p:nvPr>
        </p:nvSpPr>
        <p:spPr>
          <a:xfrm>
            <a:off x="4283665" y="3708297"/>
            <a:ext cx="3624671" cy="2351032"/>
          </a:xfrm>
        </p:spPr>
        <p:txBody>
          <a:bodyPr/>
          <a:p>
            <a:r>
              <a:rPr lang="en-US" altLang="zh-CN" sz="1600"/>
              <a:t>The distributions of v</a:t>
            </a:r>
            <a:r>
              <a:rPr lang="en-US" altLang="zh-CN" sz="1200"/>
              <a:t>x</a:t>
            </a:r>
            <a:r>
              <a:rPr lang="en-US" altLang="zh-CN" sz="1600"/>
              <a:t>, v</a:t>
            </a:r>
            <a:r>
              <a:rPr lang="en-US" altLang="zh-CN" sz="1200"/>
              <a:t>y</a:t>
            </a:r>
            <a:r>
              <a:rPr lang="en-US" altLang="zh-CN" sz="1600"/>
              <a:t>, v</a:t>
            </a:r>
            <a:r>
              <a:rPr lang="en-US" altLang="zh-CN" sz="1200"/>
              <a:t>z</a:t>
            </a:r>
            <a:r>
              <a:rPr lang="en-US" altLang="zh-CN" sz="1600"/>
              <a:t> were all approximately Gaussian with mean values close to zero. </a:t>
            </a:r>
            <a:endParaRPr lang="en-US" altLang="zh-CN" sz="1600"/>
          </a:p>
          <a:p>
            <a:r>
              <a:rPr lang="en-US" altLang="zh-CN" sz="1600"/>
              <a:t>The three distributions were also mutually consistent, indicating that the system was isotropic.</a:t>
            </a:r>
            <a:endParaRPr lang="en-US" altLang="zh-CN" sz="1600"/>
          </a:p>
          <a:p>
            <a:r>
              <a:rPr lang="en-US" altLang="zh-CN" sz="1600"/>
              <a:t>The near-zero mean values show that there was no significant net drift of the entire system.</a:t>
            </a:r>
            <a:endParaRPr lang="en-US" altLang="zh-CN" sz="1600"/>
          </a:p>
        </p:txBody>
      </p:sp>
      <p:pic>
        <p:nvPicPr>
          <p:cNvPr id="12" name="图片 11"/>
          <p:cNvPicPr>
            <a:picLocks noChangeAspect="1"/>
          </p:cNvPicPr>
          <p:nvPr/>
        </p:nvPicPr>
        <p:blipFill>
          <a:blip r:embed="rId1"/>
          <a:srcRect l="67791" t="25562"/>
          <a:stretch>
            <a:fillRect/>
          </a:stretch>
        </p:blipFill>
        <p:spPr>
          <a:xfrm>
            <a:off x="8306895" y="4691156"/>
            <a:ext cx="2947680" cy="2014784"/>
          </a:xfrm>
          <a:prstGeom prst="rect">
            <a:avLst/>
          </a:prstGeom>
        </p:spPr>
      </p:pic>
      <p:pic>
        <p:nvPicPr>
          <p:cNvPr id="13" name="图片 12"/>
          <p:cNvPicPr>
            <a:picLocks noChangeAspect="1"/>
          </p:cNvPicPr>
          <p:nvPr/>
        </p:nvPicPr>
        <p:blipFill>
          <a:blip r:embed="rId1"/>
          <a:srcRect l="35281" t="25562" r="31753"/>
          <a:stretch>
            <a:fillRect/>
          </a:stretch>
        </p:blipFill>
        <p:spPr>
          <a:xfrm>
            <a:off x="8214120" y="2598532"/>
            <a:ext cx="3133337" cy="2092566"/>
          </a:xfrm>
          <a:prstGeom prst="rect">
            <a:avLst/>
          </a:prstGeom>
        </p:spPr>
      </p:pic>
      <p:pic>
        <p:nvPicPr>
          <p:cNvPr id="14" name="图片 13"/>
          <p:cNvPicPr>
            <a:picLocks noChangeAspect="1"/>
          </p:cNvPicPr>
          <p:nvPr/>
        </p:nvPicPr>
        <p:blipFill>
          <a:blip r:embed="rId1"/>
          <a:srcRect t="24710" r="64010"/>
          <a:stretch>
            <a:fillRect/>
          </a:stretch>
        </p:blipFill>
        <p:spPr>
          <a:xfrm>
            <a:off x="7999534" y="505873"/>
            <a:ext cx="3382212" cy="2092658"/>
          </a:xfrm>
          <a:prstGeom prst="rect">
            <a:avLst/>
          </a:prstGeom>
        </p:spPr>
      </p:pic>
      <p:pic>
        <p:nvPicPr>
          <p:cNvPr id="15" name="图片 14"/>
          <p:cNvPicPr>
            <a:picLocks noChangeAspect="1"/>
          </p:cNvPicPr>
          <p:nvPr/>
        </p:nvPicPr>
        <p:blipFill>
          <a:blip r:embed="rId1"/>
          <a:srcRect l="23059" r="22681" b="86045"/>
          <a:stretch>
            <a:fillRect/>
          </a:stretch>
        </p:blipFill>
        <p:spPr>
          <a:xfrm>
            <a:off x="8123872" y="267601"/>
            <a:ext cx="3133408" cy="238335"/>
          </a:xfrm>
          <a:prstGeom prst="rect">
            <a:avLst/>
          </a:prstGeom>
        </p:spPr>
      </p:pic>
      <p:pic>
        <p:nvPicPr>
          <p:cNvPr id="16" name="图片 15"/>
          <p:cNvPicPr>
            <a:picLocks noChangeAspect="1"/>
          </p:cNvPicPr>
          <p:nvPr/>
        </p:nvPicPr>
        <p:blipFill>
          <a:blip r:embed="rId1"/>
          <a:srcRect t="24710" r="95495"/>
          <a:stretch>
            <a:fillRect/>
          </a:stretch>
        </p:blipFill>
        <p:spPr>
          <a:xfrm>
            <a:off x="7999534" y="2559507"/>
            <a:ext cx="423365" cy="2092658"/>
          </a:xfrm>
          <a:prstGeom prst="rect">
            <a:avLst/>
          </a:prstGeom>
        </p:spPr>
      </p:pic>
      <p:pic>
        <p:nvPicPr>
          <p:cNvPr id="17" name="图片 16"/>
          <p:cNvPicPr>
            <a:picLocks noChangeAspect="1"/>
          </p:cNvPicPr>
          <p:nvPr/>
        </p:nvPicPr>
        <p:blipFill>
          <a:blip r:embed="rId1"/>
          <a:srcRect t="24710" r="95495"/>
          <a:stretch>
            <a:fillRect/>
          </a:stretch>
        </p:blipFill>
        <p:spPr>
          <a:xfrm>
            <a:off x="7999534" y="4652218"/>
            <a:ext cx="423365" cy="2092658"/>
          </a:xfrm>
          <a:prstGeom prst="rect">
            <a:avLst/>
          </a:prstGeom>
        </p:spPr>
      </p:pic>
      <p:pic>
        <p:nvPicPr>
          <p:cNvPr id="18" name="图片 17"/>
          <p:cNvPicPr>
            <a:picLocks noChangeAspect="1"/>
          </p:cNvPicPr>
          <p:nvPr/>
        </p:nvPicPr>
        <p:blipFill>
          <a:blip r:embed="rId2"/>
          <a:stretch>
            <a:fillRect/>
          </a:stretch>
        </p:blipFill>
        <p:spPr>
          <a:xfrm>
            <a:off x="4283665" y="926034"/>
            <a:ext cx="3624643" cy="2388001"/>
          </a:xfrm>
          <a:prstGeom prst="rect">
            <a:avLst/>
          </a:prstGeom>
        </p:spPr>
      </p:pic>
      <p:pic>
        <p:nvPicPr>
          <p:cNvPr id="27" name="图片 26" descr="post_object_image_935867162"/>
          <p:cNvPicPr>
            <a:picLocks noChangeAspect="1"/>
          </p:cNvPicPr>
          <p:nvPr/>
        </p:nvPicPr>
        <p:blipFill>
          <a:blip r:embed="rId3"/>
          <a:stretch>
            <a:fillRect/>
          </a:stretch>
        </p:blipFill>
        <p:spPr>
          <a:xfrm>
            <a:off x="605355" y="4152645"/>
            <a:ext cx="3093230" cy="538553"/>
          </a:xfrm>
          <a:prstGeom prst="rect">
            <a:avLst/>
          </a:prstGeom>
        </p:spPr>
      </p:pic>
      <p:sp>
        <p:nvSpPr>
          <p:cNvPr id="30" name="文本框 29"/>
          <p:cNvSpPr txBox="1"/>
          <p:nvPr userDrawn="1"/>
        </p:nvSpPr>
        <p:spPr>
          <a:xfrm>
            <a:off x="462235" y="913448"/>
            <a:ext cx="3920354" cy="5792425"/>
          </a:xfrm>
          <a:prstGeom prst="rect">
            <a:avLst/>
          </a:prstGeom>
        </p:spPr>
        <p:txBody>
          <a:bodyPr wrap="square" rtlCol="0">
            <a:noAutofit/>
          </a:bodyPr>
          <a:p>
            <a:r>
              <a:rPr lang="en-US" altLang="zh-CN" sz="1600"/>
              <a:t>At thermal equilibrium, each Cartesian velocity component follows a Gaussian distribution. Its probability density is</a:t>
            </a:r>
            <a:endParaRPr lang="en-US" altLang="zh-CN" sz="1600"/>
          </a:p>
          <a:p>
            <a:endParaRPr lang="en-US" altLang="zh-CN" sz="1600"/>
          </a:p>
          <a:p>
            <a:endParaRPr lang="en-US" altLang="zh-CN" sz="1600"/>
          </a:p>
          <a:p>
            <a:endParaRPr lang="en-US" altLang="zh-CN" sz="1600"/>
          </a:p>
          <a:p>
            <a:endParaRPr lang="en-US" altLang="zh-CN" sz="1600"/>
          </a:p>
          <a:p>
            <a:r>
              <a:rPr lang="en-US" altLang="zh-CN" sz="1600"/>
              <a:t>      where</a:t>
            </a:r>
            <a:endParaRPr lang="en-US" altLang="zh-CN" sz="1600"/>
          </a:p>
          <a:p>
            <a:endParaRPr lang="en-US" altLang="zh-CN" sz="1600"/>
          </a:p>
          <a:p>
            <a:endParaRPr lang="en-US" altLang="zh-CN" sz="1600"/>
          </a:p>
          <a:p>
            <a:endParaRPr lang="en-US" altLang="zh-CN" sz="1600"/>
          </a:p>
          <a:p>
            <a:r>
              <a:rPr lang="en-US" altLang="zh-CN" sz="1600"/>
              <a:t>The anisotropy index was defined</a:t>
            </a:r>
            <a:endParaRPr lang="en-US" altLang="zh-CN" sz="1600"/>
          </a:p>
          <a:p>
            <a:endParaRPr lang="en-US" altLang="zh-CN" sz="1600"/>
          </a:p>
          <a:p>
            <a:endParaRPr lang="en-US" altLang="zh-CN" sz="1600"/>
          </a:p>
          <a:p>
            <a:endParaRPr lang="en-US" altLang="zh-CN" sz="1600"/>
          </a:p>
          <a:p>
            <a:r>
              <a:rPr lang="en-US" altLang="zh-CN" sz="1600"/>
              <a:t>    where</a:t>
            </a:r>
            <a:endParaRPr lang="en-US" altLang="zh-CN" sz="1600"/>
          </a:p>
          <a:p>
            <a:endParaRPr lang="en-US" altLang="zh-CN" sz="1600"/>
          </a:p>
          <a:p>
            <a:pPr marL="285750" indent="-285750">
              <a:buFont typeface="Arial" panose="020B0604020202020204" pitchFamily="34" charset="0"/>
              <a:buChar char="•"/>
            </a:pPr>
            <a:r>
              <a:rPr lang="en-US" altLang="zh-CN" sz="1600" b="1">
                <a:solidFill>
                  <a:srgbClr val="C00000"/>
                </a:solidFill>
              </a:rPr>
              <a:t>small A: the system is approximately isotropic;</a:t>
            </a:r>
            <a:endParaRPr lang="en-US" altLang="zh-CN" sz="1600" b="1">
              <a:solidFill>
                <a:srgbClr val="C00000"/>
              </a:solidFill>
            </a:endParaRPr>
          </a:p>
          <a:p>
            <a:pPr marL="285750" indent="-285750">
              <a:buFont typeface="Arial" panose="020B0604020202020204" pitchFamily="34" charset="0"/>
              <a:buChar char="•"/>
            </a:pPr>
            <a:r>
              <a:rPr lang="en-US" altLang="zh-CN" sz="1600"/>
              <a:t>large A: the widths of the velocity distributions differ significantly among the three directions.</a:t>
            </a:r>
            <a:endParaRPr lang="en-US" altLang="zh-CN" sz="1600"/>
          </a:p>
        </p:txBody>
      </p:sp>
      <p:pic>
        <p:nvPicPr>
          <p:cNvPr id="31" name="图片 30" descr="post_object_image_229064652"/>
          <p:cNvPicPr>
            <a:picLocks noChangeAspect="1"/>
          </p:cNvPicPr>
          <p:nvPr/>
        </p:nvPicPr>
        <p:blipFill>
          <a:blip r:embed="rId4"/>
          <a:stretch>
            <a:fillRect/>
          </a:stretch>
        </p:blipFill>
        <p:spPr>
          <a:xfrm>
            <a:off x="805770" y="1940086"/>
            <a:ext cx="2692400" cy="619417"/>
          </a:xfrm>
          <a:prstGeom prst="rect">
            <a:avLst/>
          </a:prstGeom>
        </p:spPr>
      </p:pic>
      <p:pic>
        <p:nvPicPr>
          <p:cNvPr id="32" name="图片 31" descr="post_object_image_1801606226"/>
          <p:cNvPicPr>
            <a:picLocks noChangeAspect="1"/>
          </p:cNvPicPr>
          <p:nvPr/>
        </p:nvPicPr>
        <p:blipFill>
          <a:blip r:embed="rId5"/>
          <a:stretch>
            <a:fillRect/>
          </a:stretch>
        </p:blipFill>
        <p:spPr>
          <a:xfrm>
            <a:off x="1594803" y="2663598"/>
            <a:ext cx="1114425" cy="333375"/>
          </a:xfrm>
          <a:prstGeom prst="rect">
            <a:avLst/>
          </a:prstGeom>
        </p:spPr>
      </p:pic>
      <p:pic>
        <p:nvPicPr>
          <p:cNvPr id="33" name="图片 32" descr="post_object_image_3708044122"/>
          <p:cNvPicPr>
            <a:picLocks noChangeAspect="1"/>
          </p:cNvPicPr>
          <p:nvPr/>
        </p:nvPicPr>
        <p:blipFill>
          <a:blip r:embed="rId6"/>
          <a:stretch>
            <a:fillRect/>
          </a:stretch>
        </p:blipFill>
        <p:spPr>
          <a:xfrm>
            <a:off x="1578882" y="3115204"/>
            <a:ext cx="1146175" cy="600377"/>
          </a:xfrm>
          <a:prstGeom prst="rect">
            <a:avLst/>
          </a:prstGeom>
        </p:spPr>
      </p:pic>
      <p:pic>
        <p:nvPicPr>
          <p:cNvPr id="34" name="图片 33" descr="post_object_image_913516121"/>
          <p:cNvPicPr>
            <a:picLocks noChangeAspect="1"/>
          </p:cNvPicPr>
          <p:nvPr/>
        </p:nvPicPr>
        <p:blipFill>
          <a:blip r:embed="rId7"/>
          <a:stretch>
            <a:fillRect/>
          </a:stretch>
        </p:blipFill>
        <p:spPr>
          <a:xfrm>
            <a:off x="1713820" y="4923064"/>
            <a:ext cx="876300" cy="25037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09600" y="307810"/>
            <a:ext cx="10972888" cy="711206"/>
          </a:xfrm>
        </p:spPr>
        <p:txBody>
          <a:bodyPr/>
          <a:p>
            <a:r>
              <a:rPr lang="en-US" altLang="zh-CN" sz="2400"/>
              <a:t>3.1. Basic Validation of the Total Speed Distribution</a:t>
            </a:r>
            <a:endParaRPr lang="en-US" altLang="zh-CN" sz="2400"/>
          </a:p>
        </p:txBody>
      </p:sp>
      <p:sp>
        <p:nvSpPr>
          <p:cNvPr id="3" name="内容占位符 2"/>
          <p:cNvSpPr>
            <a:spLocks noGrp="1"/>
          </p:cNvSpPr>
          <p:nvPr>
            <p:ph idx="1"/>
          </p:nvPr>
        </p:nvSpPr>
        <p:spPr>
          <a:xfrm>
            <a:off x="609600" y="5238750"/>
            <a:ext cx="5082846" cy="1187192"/>
          </a:xfrm>
        </p:spPr>
        <p:txBody>
          <a:bodyPr/>
          <a:p>
            <a:r>
              <a:rPr lang="en-US" altLang="zh-CN" sz="2000"/>
              <a:t>The speed distribution obtained from the MD simulation was consistent with the theoretical Maxwell distribution.</a:t>
            </a:r>
            <a:endParaRPr lang="zh-CN" altLang="en-US" sz="2000"/>
          </a:p>
        </p:txBody>
      </p:sp>
      <p:pic>
        <p:nvPicPr>
          <p:cNvPr id="6" name="图片 5"/>
          <p:cNvPicPr>
            <a:picLocks noChangeAspect="1"/>
          </p:cNvPicPr>
          <p:nvPr/>
        </p:nvPicPr>
        <p:blipFill>
          <a:blip r:embed="rId1"/>
          <a:stretch>
            <a:fillRect/>
          </a:stretch>
        </p:blipFill>
        <p:spPr>
          <a:xfrm>
            <a:off x="409523" y="1290723"/>
            <a:ext cx="5483011" cy="3626559"/>
          </a:xfrm>
          <a:prstGeom prst="rect">
            <a:avLst/>
          </a:prstGeom>
        </p:spPr>
      </p:pic>
      <p:pic>
        <p:nvPicPr>
          <p:cNvPr id="2097160" name="picture 220"/>
          <p:cNvPicPr>
            <a:picLocks noChangeAspect="1"/>
          </p:cNvPicPr>
          <p:nvPr/>
        </p:nvPicPr>
        <p:blipFill>
          <a:blip r:embed="rId2"/>
          <a:stretch>
            <a:fillRect/>
          </a:stretch>
        </p:blipFill>
        <p:spPr>
          <a:xfrm rot="21600000">
            <a:off x="9816775" y="0"/>
            <a:ext cx="2342909" cy="621220"/>
          </a:xfrm>
          <a:prstGeom prst="rect">
            <a:avLst/>
          </a:prstGeom>
        </p:spPr>
      </p:pic>
      <p:pic>
        <p:nvPicPr>
          <p:cNvPr id="8" name="图片 7"/>
          <p:cNvPicPr>
            <a:picLocks noChangeAspect="1"/>
          </p:cNvPicPr>
          <p:nvPr/>
        </p:nvPicPr>
        <p:blipFill>
          <a:blip r:embed="rId1"/>
          <a:srcRect l="71251" t="7521" r="2211" b="74862"/>
          <a:stretch>
            <a:fillRect/>
          </a:stretch>
        </p:blipFill>
        <p:spPr>
          <a:xfrm>
            <a:off x="3590762" y="1594242"/>
            <a:ext cx="2184808" cy="959252"/>
          </a:xfrm>
          <a:prstGeom prst="rect">
            <a:avLst/>
          </a:prstGeom>
        </p:spPr>
      </p:pic>
      <p:sp>
        <p:nvSpPr>
          <p:cNvPr id="12" name="文本框 11"/>
          <p:cNvSpPr txBox="1"/>
          <p:nvPr userDrawn="1"/>
        </p:nvSpPr>
        <p:spPr>
          <a:xfrm>
            <a:off x="6220143" y="1129393"/>
            <a:ext cx="5727383" cy="5077460"/>
          </a:xfrm>
          <a:prstGeom prst="rect">
            <a:avLst/>
          </a:prstGeom>
        </p:spPr>
        <p:txBody>
          <a:bodyPr wrap="square" rtlCol="0">
            <a:noAutofit/>
          </a:bodyPr>
          <a:p>
            <a:r>
              <a:rPr lang="en-US" altLang="zh-CN" sz="1600"/>
              <a:t>The particle speed is defined as</a:t>
            </a:r>
            <a:endParaRPr lang="en-US" altLang="zh-CN" sz="1600"/>
          </a:p>
          <a:p>
            <a:endParaRPr lang="en-US" altLang="zh-CN" sz="1600"/>
          </a:p>
          <a:p>
            <a:endParaRPr lang="en-US" altLang="zh-CN" sz="1600"/>
          </a:p>
          <a:p>
            <a:endParaRPr lang="en-US" altLang="zh-CN" sz="1600"/>
          </a:p>
          <a:p>
            <a:r>
              <a:rPr lang="en-US" altLang="zh-CN" sz="1600"/>
              <a:t>The Maxwell speed probability density is</a:t>
            </a:r>
            <a:endParaRPr lang="en-US" altLang="zh-CN" sz="1600"/>
          </a:p>
          <a:p>
            <a:endParaRPr lang="en-US" altLang="zh-CN" sz="1600"/>
          </a:p>
          <a:p>
            <a:endParaRPr lang="en-US" altLang="zh-CN" sz="1600"/>
          </a:p>
          <a:p>
            <a:endParaRPr lang="en-US" altLang="zh-CN" sz="1600"/>
          </a:p>
          <a:p>
            <a:r>
              <a:rPr lang="en-US" altLang="zh-CN" sz="1600"/>
              <a:t>      where</a:t>
            </a:r>
            <a:endParaRPr lang="en-US" altLang="zh-CN" sz="1600"/>
          </a:p>
          <a:p>
            <a:endParaRPr lang="en-US" altLang="zh-CN" sz="1600"/>
          </a:p>
          <a:p>
            <a:endParaRPr lang="en-US" altLang="zh-CN" sz="1600"/>
          </a:p>
          <a:p>
            <a:endParaRPr lang="en-US" altLang="zh-CN" sz="1600"/>
          </a:p>
          <a:p>
            <a:r>
              <a:rPr lang="en-US" altLang="zh-CN" sz="1600"/>
              <a:t>The theoretical mean speed is</a:t>
            </a:r>
            <a:endParaRPr lang="en-US" altLang="zh-CN" sz="1600"/>
          </a:p>
          <a:p>
            <a:endParaRPr lang="en-US" altLang="zh-CN" sz="1600"/>
          </a:p>
          <a:p>
            <a:endParaRPr lang="en-US" altLang="zh-CN" sz="1600"/>
          </a:p>
          <a:p>
            <a:endParaRPr lang="en-US" altLang="zh-CN" sz="1600"/>
          </a:p>
          <a:p>
            <a:r>
              <a:rPr lang="en-US" altLang="zh-CN" sz="1600"/>
              <a:t>     and the theoretical standard deviation of the speed is</a:t>
            </a:r>
            <a:endParaRPr lang="en-US" altLang="zh-CN" sz="1600"/>
          </a:p>
          <a:p>
            <a:endParaRPr lang="en-US" altLang="zh-CN" sz="1600"/>
          </a:p>
          <a:p>
            <a:endParaRPr lang="en-US" altLang="zh-CN" sz="1600"/>
          </a:p>
          <a:p>
            <a:endParaRPr lang="en-US" altLang="zh-CN" sz="1600"/>
          </a:p>
          <a:p>
            <a:endParaRPr lang="en-US" altLang="zh-CN" sz="1600"/>
          </a:p>
        </p:txBody>
      </p:sp>
      <p:pic>
        <p:nvPicPr>
          <p:cNvPr id="13" name="图片 12" descr="post_object_image_1268116600"/>
          <p:cNvPicPr>
            <a:picLocks noChangeAspect="1"/>
          </p:cNvPicPr>
          <p:nvPr/>
        </p:nvPicPr>
        <p:blipFill>
          <a:blip r:embed="rId3"/>
          <a:stretch>
            <a:fillRect/>
          </a:stretch>
        </p:blipFill>
        <p:spPr>
          <a:xfrm>
            <a:off x="7507333" y="1466283"/>
            <a:ext cx="2066925" cy="542925"/>
          </a:xfrm>
          <a:prstGeom prst="rect">
            <a:avLst/>
          </a:prstGeom>
        </p:spPr>
      </p:pic>
      <p:pic>
        <p:nvPicPr>
          <p:cNvPr id="14" name="图片 13" descr="post_object_image_1398920637"/>
          <p:cNvPicPr>
            <a:picLocks noChangeAspect="1"/>
          </p:cNvPicPr>
          <p:nvPr/>
        </p:nvPicPr>
        <p:blipFill>
          <a:blip r:embed="rId4"/>
          <a:stretch>
            <a:fillRect/>
          </a:stretch>
        </p:blipFill>
        <p:spPr>
          <a:xfrm>
            <a:off x="6691358" y="2458244"/>
            <a:ext cx="3698875" cy="672523"/>
          </a:xfrm>
          <a:prstGeom prst="rect">
            <a:avLst/>
          </a:prstGeom>
        </p:spPr>
      </p:pic>
      <p:pic>
        <p:nvPicPr>
          <p:cNvPr id="15" name="图片 14" descr="post_object_image_3525936353"/>
          <p:cNvPicPr>
            <a:picLocks noChangeAspect="1"/>
          </p:cNvPicPr>
          <p:nvPr/>
        </p:nvPicPr>
        <p:blipFill>
          <a:blip r:embed="rId5"/>
          <a:stretch>
            <a:fillRect/>
          </a:stretch>
        </p:blipFill>
        <p:spPr>
          <a:xfrm>
            <a:off x="7943895" y="3331796"/>
            <a:ext cx="1193800" cy="672563"/>
          </a:xfrm>
          <a:prstGeom prst="rect">
            <a:avLst/>
          </a:prstGeom>
        </p:spPr>
      </p:pic>
      <p:pic>
        <p:nvPicPr>
          <p:cNvPr id="16" name="图片 15" descr="post_object_image_350245921"/>
          <p:cNvPicPr>
            <a:picLocks noChangeAspect="1"/>
          </p:cNvPicPr>
          <p:nvPr/>
        </p:nvPicPr>
        <p:blipFill>
          <a:blip r:embed="rId6"/>
          <a:stretch>
            <a:fillRect/>
          </a:stretch>
        </p:blipFill>
        <p:spPr>
          <a:xfrm>
            <a:off x="7856583" y="4413866"/>
            <a:ext cx="1368425" cy="591295"/>
          </a:xfrm>
          <a:prstGeom prst="rect">
            <a:avLst/>
          </a:prstGeom>
        </p:spPr>
      </p:pic>
      <p:pic>
        <p:nvPicPr>
          <p:cNvPr id="17" name="图片 16" descr="post_object_image_2205206246"/>
          <p:cNvPicPr>
            <a:picLocks noChangeAspect="1"/>
          </p:cNvPicPr>
          <p:nvPr/>
        </p:nvPicPr>
        <p:blipFill>
          <a:blip r:embed="rId7"/>
          <a:stretch>
            <a:fillRect/>
          </a:stretch>
        </p:blipFill>
        <p:spPr>
          <a:xfrm>
            <a:off x="7507333" y="5324252"/>
            <a:ext cx="2007805" cy="74619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09600" y="307832"/>
            <a:ext cx="10972888" cy="711206"/>
          </a:xfrm>
        </p:spPr>
        <p:txBody>
          <a:bodyPr/>
          <a:p>
            <a:r>
              <a:rPr lang="en-US" altLang="zh-CN" sz="2400"/>
              <a:t>3.2. Temperature Effects</a:t>
            </a:r>
            <a:endParaRPr lang="en-US" altLang="zh-CN" sz="2400"/>
          </a:p>
        </p:txBody>
      </p:sp>
      <p:sp>
        <p:nvSpPr>
          <p:cNvPr id="3" name="内容占位符 2"/>
          <p:cNvSpPr>
            <a:spLocks noGrp="1"/>
          </p:cNvSpPr>
          <p:nvPr>
            <p:ph idx="1"/>
          </p:nvPr>
        </p:nvSpPr>
        <p:spPr>
          <a:xfrm>
            <a:off x="6161654" y="3915372"/>
            <a:ext cx="5388020" cy="1423390"/>
          </a:xfrm>
        </p:spPr>
        <p:txBody>
          <a:bodyPr/>
          <a:p>
            <a:r>
              <a:rPr lang="en-US" altLang="zh-CN" sz="2000"/>
              <a:t>As the temperature increases:</a:t>
            </a:r>
            <a:endParaRPr lang="en-US" altLang="zh-CN" sz="2000"/>
          </a:p>
          <a:p>
            <a:endParaRPr lang="en-US" altLang="zh-CN" sz="2000"/>
          </a:p>
          <a:p>
            <a:r>
              <a:rPr lang="en-US" altLang="zh-CN" sz="2000"/>
              <a:t>the distribution becomes broader;</a:t>
            </a:r>
            <a:endParaRPr lang="en-US" altLang="zh-CN" sz="2000"/>
          </a:p>
          <a:p>
            <a:r>
              <a:rPr lang="en-US" altLang="zh-CN" sz="2000"/>
              <a:t>the peak shifts to the right;</a:t>
            </a:r>
            <a:endParaRPr lang="en-US" altLang="zh-CN" sz="2000"/>
          </a:p>
          <a:p>
            <a:r>
              <a:rPr lang="en-US" altLang="zh-CN" sz="2000"/>
              <a:t>the peak height decreases;</a:t>
            </a:r>
            <a:endParaRPr lang="en-US" altLang="zh-CN" sz="2000"/>
          </a:p>
          <a:p>
            <a:r>
              <a:rPr lang="en-US" altLang="zh-CN" sz="2000"/>
              <a:t>the high-speed tail becomes longer.</a:t>
            </a:r>
            <a:endParaRPr lang="en-US" altLang="zh-CN" sz="2000"/>
          </a:p>
          <a:p>
            <a:endParaRPr lang="en-US" altLang="zh-CN" sz="2000"/>
          </a:p>
          <a:p>
            <a:endParaRPr lang="en-US" altLang="zh-CN" sz="2000"/>
          </a:p>
        </p:txBody>
      </p:sp>
      <p:pic>
        <p:nvPicPr>
          <p:cNvPr id="5" name="图片 4"/>
          <p:cNvPicPr>
            <a:picLocks noChangeAspect="1"/>
          </p:cNvPicPr>
          <p:nvPr/>
        </p:nvPicPr>
        <p:blipFill>
          <a:blip r:embed="rId1"/>
          <a:stretch>
            <a:fillRect/>
          </a:stretch>
        </p:blipFill>
        <p:spPr>
          <a:xfrm>
            <a:off x="609600" y="1796065"/>
            <a:ext cx="5047844" cy="3265871"/>
          </a:xfrm>
          <a:prstGeom prst="rect">
            <a:avLst/>
          </a:prstGeom>
        </p:spPr>
      </p:pic>
      <p:pic>
        <p:nvPicPr>
          <p:cNvPr id="2097160" name="picture 220"/>
          <p:cNvPicPr>
            <a:picLocks noChangeAspect="1"/>
          </p:cNvPicPr>
          <p:nvPr/>
        </p:nvPicPr>
        <p:blipFill>
          <a:blip r:embed="rId2"/>
          <a:stretch>
            <a:fillRect/>
          </a:stretch>
        </p:blipFill>
        <p:spPr>
          <a:xfrm rot="21600000">
            <a:off x="9816775" y="0"/>
            <a:ext cx="2342909" cy="621220"/>
          </a:xfrm>
          <a:prstGeom prst="rect">
            <a:avLst/>
          </a:prstGeom>
        </p:spPr>
      </p:pic>
      <p:sp>
        <p:nvSpPr>
          <p:cNvPr id="9" name="文本框 8"/>
          <p:cNvSpPr txBox="1"/>
          <p:nvPr userDrawn="1"/>
        </p:nvSpPr>
        <p:spPr>
          <a:xfrm>
            <a:off x="5985827" y="1063625"/>
            <a:ext cx="5739606" cy="1753235"/>
          </a:xfrm>
          <a:prstGeom prst="rect">
            <a:avLst/>
          </a:prstGeom>
        </p:spPr>
        <p:txBody>
          <a:bodyPr wrap="square" rtlCol="0">
            <a:noAutofit/>
          </a:bodyPr>
          <a:p>
            <a:r>
              <a:rPr lang="en-US" altLang="zh-CN"/>
              <a:t>For the same particle species, the scale parameter of the Maxwell distribution is</a:t>
            </a:r>
            <a:endParaRPr lang="en-US" altLang="zh-CN"/>
          </a:p>
          <a:p>
            <a:endParaRPr lang="en-US" altLang="zh-CN"/>
          </a:p>
          <a:p>
            <a:endParaRPr lang="en-US" altLang="zh-CN"/>
          </a:p>
          <a:p>
            <a:endParaRPr lang="en-US" altLang="zh-CN"/>
          </a:p>
          <a:p>
            <a:r>
              <a:rPr lang="en-US" altLang="zh-CN"/>
              <a:t>Therefore, all characteristic quantities describing the position and width of the speed distribution are proportional to</a:t>
            </a:r>
            <a:endParaRPr lang="en-US" altLang="zh-CN"/>
          </a:p>
          <a:p>
            <a:endParaRPr lang="en-US" altLang="zh-CN"/>
          </a:p>
          <a:p>
            <a:endParaRPr lang="en-US" altLang="zh-CN"/>
          </a:p>
        </p:txBody>
      </p:sp>
      <p:pic>
        <p:nvPicPr>
          <p:cNvPr id="10" name="图片 9" descr="post_object_image_900871516"/>
          <p:cNvPicPr>
            <a:picLocks noChangeAspect="1"/>
          </p:cNvPicPr>
          <p:nvPr/>
        </p:nvPicPr>
        <p:blipFill>
          <a:blip r:embed="rId3"/>
          <a:stretch>
            <a:fillRect/>
          </a:stretch>
        </p:blipFill>
        <p:spPr>
          <a:xfrm>
            <a:off x="8085773" y="1711497"/>
            <a:ext cx="1539875" cy="749128"/>
          </a:xfrm>
          <a:prstGeom prst="rect">
            <a:avLst/>
          </a:prstGeom>
        </p:spPr>
      </p:pic>
      <p:pic>
        <p:nvPicPr>
          <p:cNvPr id="11" name="图片 10" descr="post_object_image_1459951543"/>
          <p:cNvPicPr>
            <a:picLocks noChangeAspect="1"/>
          </p:cNvPicPr>
          <p:nvPr/>
        </p:nvPicPr>
        <p:blipFill>
          <a:blip r:embed="rId4"/>
          <a:stretch>
            <a:fillRect/>
          </a:stretch>
        </p:blipFill>
        <p:spPr>
          <a:xfrm>
            <a:off x="8237537" y="2990215"/>
            <a:ext cx="447675" cy="3333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09600" y="180832"/>
            <a:ext cx="10972888" cy="711206"/>
          </a:xfrm>
        </p:spPr>
        <p:txBody>
          <a:bodyPr/>
          <a:p>
            <a:r>
              <a:rPr lang="zh-CN" altLang="en-US" sz="2400"/>
              <a:t>3.2. </a:t>
            </a:r>
            <a:r>
              <a:rPr lang="en-US" altLang="zh-CN" sz="2400"/>
              <a:t>Temperature Effects</a:t>
            </a:r>
            <a:endParaRPr lang="en-US" altLang="zh-CN" sz="2400"/>
          </a:p>
        </p:txBody>
      </p:sp>
      <p:sp>
        <p:nvSpPr>
          <p:cNvPr id="3" name="内容占位符 2"/>
          <p:cNvSpPr>
            <a:spLocks noGrp="1"/>
          </p:cNvSpPr>
          <p:nvPr>
            <p:ph idx="1"/>
          </p:nvPr>
        </p:nvSpPr>
        <p:spPr>
          <a:xfrm>
            <a:off x="854575" y="4264479"/>
            <a:ext cx="5083263" cy="2051995"/>
          </a:xfrm>
        </p:spPr>
        <p:txBody>
          <a:bodyPr/>
          <a:p>
            <a:pPr marL="0" indent="0">
              <a:buNone/>
            </a:pPr>
            <a:r>
              <a:rPr lang="en-US" altLang="zh-CN" sz="1600" b="1">
                <a:solidFill>
                  <a:srgbClr val="C00000"/>
                </a:solidFill>
              </a:rPr>
              <a:t>Shift towards Higher Speeds</a:t>
            </a:r>
            <a:endParaRPr lang="en-US" altLang="zh-CN" sz="1600" b="1">
              <a:solidFill>
                <a:srgbClr val="C00000"/>
              </a:solidFill>
            </a:endParaRPr>
          </a:p>
          <a:p>
            <a:pPr marL="0" indent="0">
              <a:buNone/>
            </a:pPr>
            <a:r>
              <a:rPr lang="en-US" altLang="zh-CN" sz="1600"/>
              <a:t>The shift of the distribution can be quantified using either the mean speed or the most probable speed.</a:t>
            </a:r>
            <a:endParaRPr lang="en-US" altLang="zh-CN" sz="1600"/>
          </a:p>
          <a:p>
            <a:pPr marL="0" indent="0">
              <a:buNone/>
            </a:pPr>
            <a:r>
              <a:rPr lang="en-US" altLang="zh-CN" sz="1600"/>
              <a:t>The mean speed is</a:t>
            </a:r>
            <a:endParaRPr lang="en-US" altLang="zh-CN" sz="1600"/>
          </a:p>
          <a:p>
            <a:pPr marL="0" indent="0">
              <a:buNone/>
            </a:pPr>
            <a:endParaRPr lang="en-US" altLang="zh-CN" sz="1600"/>
          </a:p>
          <a:p>
            <a:pPr marL="0" indent="0">
              <a:buNone/>
            </a:pPr>
            <a:r>
              <a:rPr lang="en-US" altLang="zh-CN" sz="1600"/>
              <a:t>and the most probable speed is</a:t>
            </a:r>
            <a:endParaRPr lang="en-US" altLang="zh-CN" sz="1600"/>
          </a:p>
        </p:txBody>
      </p:sp>
      <p:pic>
        <p:nvPicPr>
          <p:cNvPr id="2097160" name="picture 220"/>
          <p:cNvPicPr>
            <a:picLocks noChangeAspect="1"/>
          </p:cNvPicPr>
          <p:nvPr/>
        </p:nvPicPr>
        <p:blipFill>
          <a:blip r:embed="rId1"/>
          <a:stretch>
            <a:fillRect/>
          </a:stretch>
        </p:blipFill>
        <p:spPr>
          <a:xfrm rot="21600000">
            <a:off x="9816775" y="0"/>
            <a:ext cx="2342909" cy="621220"/>
          </a:xfrm>
          <a:prstGeom prst="rect">
            <a:avLst/>
          </a:prstGeom>
        </p:spPr>
      </p:pic>
      <p:pic>
        <p:nvPicPr>
          <p:cNvPr id="5" name="图片 4" descr="post_object_image_531886549"/>
          <p:cNvPicPr>
            <a:picLocks noChangeAspect="1"/>
          </p:cNvPicPr>
          <p:nvPr/>
        </p:nvPicPr>
        <p:blipFill>
          <a:blip r:embed="rId2"/>
          <a:stretch>
            <a:fillRect/>
          </a:stretch>
        </p:blipFill>
        <p:spPr>
          <a:xfrm>
            <a:off x="2770959" y="5315133"/>
            <a:ext cx="1250496" cy="576576"/>
          </a:xfrm>
          <a:prstGeom prst="rect">
            <a:avLst/>
          </a:prstGeom>
        </p:spPr>
      </p:pic>
      <p:pic>
        <p:nvPicPr>
          <p:cNvPr id="6" name="图片 5" descr="post_object_image_2791576124"/>
          <p:cNvPicPr>
            <a:picLocks noChangeAspect="1"/>
          </p:cNvPicPr>
          <p:nvPr/>
        </p:nvPicPr>
        <p:blipFill>
          <a:blip r:embed="rId3"/>
          <a:stretch>
            <a:fillRect/>
          </a:stretch>
        </p:blipFill>
        <p:spPr>
          <a:xfrm>
            <a:off x="4021455" y="5891757"/>
            <a:ext cx="1254125" cy="537482"/>
          </a:xfrm>
          <a:prstGeom prst="rect">
            <a:avLst/>
          </a:prstGeom>
        </p:spPr>
      </p:pic>
      <p:sp>
        <p:nvSpPr>
          <p:cNvPr id="8" name="文本框 7"/>
          <p:cNvSpPr txBox="1"/>
          <p:nvPr userDrawn="1"/>
        </p:nvSpPr>
        <p:spPr>
          <a:xfrm>
            <a:off x="6294483" y="4264479"/>
            <a:ext cx="5192803" cy="2306955"/>
          </a:xfrm>
          <a:prstGeom prst="rect">
            <a:avLst/>
          </a:prstGeom>
        </p:spPr>
        <p:txBody>
          <a:bodyPr wrap="square" rtlCol="0">
            <a:noAutofit/>
          </a:bodyPr>
          <a:p>
            <a:pPr indent="0">
              <a:buNone/>
            </a:pPr>
            <a:r>
              <a:rPr lang="en-US" altLang="zh-CN" sz="1600" b="1">
                <a:solidFill>
                  <a:srgbClr val="C00000"/>
                </a:solidFill>
              </a:rPr>
              <a:t>Broadening of the Distribution</a:t>
            </a:r>
            <a:endParaRPr lang="en-US" altLang="zh-CN" sz="1600" b="1">
              <a:solidFill>
                <a:srgbClr val="C00000"/>
              </a:solidFill>
            </a:endParaRPr>
          </a:p>
          <a:p>
            <a:pPr marL="285750" indent="-285750">
              <a:buFont typeface="Arial" panose="020B0604020202020204" pitchFamily="34" charset="0"/>
              <a:buChar char="•"/>
            </a:pPr>
            <a:endParaRPr lang="en-US" altLang="zh-CN" sz="1600" b="1">
              <a:solidFill>
                <a:srgbClr val="C00000"/>
              </a:solidFill>
            </a:endParaRPr>
          </a:p>
          <a:p>
            <a:pPr indent="0">
              <a:buNone/>
            </a:pPr>
            <a:r>
              <a:rPr lang="en-US" altLang="zh-CN" sz="1600"/>
              <a:t>The broadening of the distribution can be quantified using the standard deviation of the speed:</a:t>
            </a:r>
            <a:endParaRPr lang="en-US" altLang="zh-CN" sz="1600"/>
          </a:p>
          <a:p>
            <a:endParaRPr lang="en-US" altLang="zh-CN" sz="1600"/>
          </a:p>
          <a:p>
            <a:endParaRPr lang="en-US" altLang="zh-CN" sz="1600"/>
          </a:p>
          <a:p>
            <a:r>
              <a:rPr lang="en-US" altLang="zh-CN" sz="1600"/>
              <a:t>The standard deviation increases with temperature, and the speed distribution becomes broader.</a:t>
            </a:r>
            <a:endParaRPr lang="en-US" altLang="zh-CN" sz="1600"/>
          </a:p>
        </p:txBody>
      </p:sp>
      <p:pic>
        <p:nvPicPr>
          <p:cNvPr id="9" name="图片 8" descr="post_object_image_199293510"/>
          <p:cNvPicPr>
            <a:picLocks noChangeAspect="1"/>
          </p:cNvPicPr>
          <p:nvPr/>
        </p:nvPicPr>
        <p:blipFill>
          <a:blip r:embed="rId4"/>
          <a:stretch>
            <a:fillRect/>
          </a:stretch>
        </p:blipFill>
        <p:spPr>
          <a:xfrm>
            <a:off x="7836490" y="5315086"/>
            <a:ext cx="1741714" cy="571282"/>
          </a:xfrm>
          <a:prstGeom prst="rect">
            <a:avLst/>
          </a:prstGeom>
        </p:spPr>
      </p:pic>
      <p:pic>
        <p:nvPicPr>
          <p:cNvPr id="10" name="图片 9"/>
          <p:cNvPicPr>
            <a:picLocks noChangeAspect="1"/>
          </p:cNvPicPr>
          <p:nvPr/>
        </p:nvPicPr>
        <p:blipFill>
          <a:blip r:embed="rId5"/>
          <a:srcRect l="49657" t="15622"/>
          <a:stretch>
            <a:fillRect/>
          </a:stretch>
        </p:blipFill>
        <p:spPr>
          <a:xfrm>
            <a:off x="6389778" y="1123382"/>
            <a:ext cx="4635131" cy="3086691"/>
          </a:xfrm>
          <a:prstGeom prst="rect">
            <a:avLst/>
          </a:prstGeom>
        </p:spPr>
      </p:pic>
      <p:pic>
        <p:nvPicPr>
          <p:cNvPr id="11" name="图片 10"/>
          <p:cNvPicPr>
            <a:picLocks noChangeAspect="1"/>
          </p:cNvPicPr>
          <p:nvPr/>
        </p:nvPicPr>
        <p:blipFill>
          <a:blip r:embed="rId5"/>
          <a:srcRect t="12647" r="50396"/>
          <a:stretch>
            <a:fillRect/>
          </a:stretch>
        </p:blipFill>
        <p:spPr>
          <a:xfrm>
            <a:off x="772481" y="1068977"/>
            <a:ext cx="4567095" cy="319554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09556" y="323707"/>
            <a:ext cx="10972888" cy="711206"/>
          </a:xfrm>
        </p:spPr>
        <p:txBody>
          <a:bodyPr/>
          <a:p>
            <a:r>
              <a:rPr lang="en-US" altLang="zh-CN" sz="2400"/>
              <a:t>3.3. Effect of Particle Number</a:t>
            </a:r>
            <a:endParaRPr lang="en-US" altLang="zh-CN" sz="2400"/>
          </a:p>
        </p:txBody>
      </p:sp>
      <p:sp>
        <p:nvSpPr>
          <p:cNvPr id="3" name="内容占位符 2"/>
          <p:cNvSpPr>
            <a:spLocks noGrp="1"/>
          </p:cNvSpPr>
          <p:nvPr>
            <p:ph idx="1"/>
          </p:nvPr>
        </p:nvSpPr>
        <p:spPr>
          <a:xfrm>
            <a:off x="752475" y="4539660"/>
            <a:ext cx="5487038" cy="1648701"/>
          </a:xfrm>
        </p:spPr>
        <p:txBody>
          <a:bodyPr/>
          <a:p>
            <a:r>
              <a:rPr lang="en-US" altLang="zh-CN" sz="1600"/>
              <a:t>This density change may affect:</a:t>
            </a:r>
            <a:endParaRPr lang="en-US" altLang="zh-CN" sz="1600"/>
          </a:p>
          <a:p>
            <a:r>
              <a:rPr lang="en-US" altLang="zh-CN" sz="1600"/>
              <a:t>the collision frequency;</a:t>
            </a:r>
            <a:endParaRPr lang="en-US" altLang="zh-CN" sz="1600"/>
          </a:p>
          <a:p>
            <a:r>
              <a:rPr lang="en-US" altLang="zh-CN" sz="1600"/>
              <a:t>the time required to reach equilibrium;</a:t>
            </a:r>
            <a:endParaRPr lang="en-US" altLang="zh-CN" sz="1600"/>
          </a:p>
          <a:p>
            <a:r>
              <a:rPr lang="en-US" altLang="zh-CN" sz="1600"/>
              <a:t>the velocity autocorrelation;</a:t>
            </a:r>
            <a:endParaRPr lang="en-US" altLang="zh-CN" sz="1600"/>
          </a:p>
          <a:p>
            <a:r>
              <a:rPr lang="en-US" altLang="zh-CN" sz="1600"/>
              <a:t>the correlation between adjacent trajectory frames.</a:t>
            </a:r>
            <a:endParaRPr lang="en-US" altLang="zh-CN" sz="1600"/>
          </a:p>
        </p:txBody>
      </p:sp>
      <p:pic>
        <p:nvPicPr>
          <p:cNvPr id="4" name="图片 3"/>
          <p:cNvPicPr>
            <a:picLocks noChangeAspect="1"/>
          </p:cNvPicPr>
          <p:nvPr/>
        </p:nvPicPr>
        <p:blipFill>
          <a:blip r:embed="rId1"/>
          <a:stretch>
            <a:fillRect/>
          </a:stretch>
        </p:blipFill>
        <p:spPr>
          <a:xfrm>
            <a:off x="752475" y="1193641"/>
            <a:ext cx="4597886" cy="2978579"/>
          </a:xfrm>
          <a:prstGeom prst="rect">
            <a:avLst/>
          </a:prstGeom>
        </p:spPr>
      </p:pic>
      <p:pic>
        <p:nvPicPr>
          <p:cNvPr id="2097160" name="picture 220"/>
          <p:cNvPicPr>
            <a:picLocks noChangeAspect="1"/>
          </p:cNvPicPr>
          <p:nvPr/>
        </p:nvPicPr>
        <p:blipFill>
          <a:blip r:embed="rId2"/>
          <a:stretch>
            <a:fillRect/>
          </a:stretch>
        </p:blipFill>
        <p:spPr>
          <a:xfrm rot="21600000">
            <a:off x="9816775" y="0"/>
            <a:ext cx="2342909" cy="621220"/>
          </a:xfrm>
          <a:prstGeom prst="rect">
            <a:avLst/>
          </a:prstGeom>
        </p:spPr>
      </p:pic>
      <p:sp>
        <p:nvSpPr>
          <p:cNvPr id="8" name="文本框 7"/>
          <p:cNvSpPr txBox="1"/>
          <p:nvPr userDrawn="1"/>
        </p:nvSpPr>
        <p:spPr>
          <a:xfrm>
            <a:off x="6105525" y="1079409"/>
            <a:ext cx="5388429" cy="4842601"/>
          </a:xfrm>
          <a:prstGeom prst="rect">
            <a:avLst/>
          </a:prstGeom>
        </p:spPr>
        <p:txBody>
          <a:bodyPr wrap="square" rtlCol="0">
            <a:noAutofit/>
          </a:bodyPr>
          <a:p>
            <a:r>
              <a:rPr lang="en-US" altLang="zh-CN" sz="1600"/>
              <a:t>The theoretical Maxwell speed distribution is</a:t>
            </a:r>
            <a:endParaRPr lang="en-US" altLang="zh-CN" sz="1600"/>
          </a:p>
          <a:p>
            <a:endParaRPr lang="en-US" altLang="zh-CN" sz="1600"/>
          </a:p>
          <a:p>
            <a:endParaRPr lang="en-US" altLang="zh-CN" sz="1600"/>
          </a:p>
          <a:p>
            <a:endParaRPr lang="en-US" altLang="zh-CN" sz="1600"/>
          </a:p>
          <a:p>
            <a:r>
              <a:rPr lang="en-US" altLang="zh-CN" sz="1600"/>
              <a:t>     with</a:t>
            </a:r>
            <a:endParaRPr lang="en-US" altLang="zh-CN" sz="1600"/>
          </a:p>
          <a:p>
            <a:endParaRPr lang="en-US" altLang="zh-CN" sz="1600"/>
          </a:p>
          <a:p>
            <a:endParaRPr lang="en-US" altLang="zh-CN" sz="1600"/>
          </a:p>
          <a:p>
            <a:r>
              <a:rPr lang="en-US" altLang="zh-CN" sz="1600"/>
              <a:t>Therefore, at fixed temperature and for the same particle species, changing the number of particles should not change the theoretical Maxwell speed distribution.</a:t>
            </a:r>
            <a:endParaRPr lang="en-US" altLang="zh-CN" sz="1600"/>
          </a:p>
          <a:p>
            <a:endParaRPr lang="en-US" altLang="zh-CN" sz="1600"/>
          </a:p>
          <a:p>
            <a:endParaRPr lang="en-US" altLang="zh-CN" sz="1600"/>
          </a:p>
          <a:p>
            <a:endParaRPr lang="en-US" altLang="zh-CN" sz="1600"/>
          </a:p>
          <a:p>
            <a:r>
              <a:rPr lang="en-US" altLang="zh-CN" sz="1600"/>
              <a:t>After proper equilibration, the density change should not alter the functional form of the theoretical Maxwell velocity distribution.</a:t>
            </a:r>
            <a:endParaRPr lang="en-US" altLang="zh-CN" sz="1600"/>
          </a:p>
        </p:txBody>
      </p:sp>
      <p:pic>
        <p:nvPicPr>
          <p:cNvPr id="5" name="图片 4" descr="post_object_image_4009238877"/>
          <p:cNvPicPr>
            <a:picLocks noChangeAspect="1"/>
          </p:cNvPicPr>
          <p:nvPr/>
        </p:nvPicPr>
        <p:blipFill>
          <a:blip r:embed="rId3"/>
          <a:stretch>
            <a:fillRect/>
          </a:stretch>
        </p:blipFill>
        <p:spPr>
          <a:xfrm>
            <a:off x="7488963" y="1410925"/>
            <a:ext cx="2186055" cy="641713"/>
          </a:xfrm>
          <a:prstGeom prst="rect">
            <a:avLst/>
          </a:prstGeom>
        </p:spPr>
      </p:pic>
      <p:pic>
        <p:nvPicPr>
          <p:cNvPr id="6" name="图片 5" descr="post_object_image_2380016538"/>
          <p:cNvPicPr>
            <a:picLocks noChangeAspect="1"/>
          </p:cNvPicPr>
          <p:nvPr/>
        </p:nvPicPr>
        <p:blipFill>
          <a:blip r:embed="rId4"/>
          <a:stretch>
            <a:fillRect/>
          </a:stretch>
        </p:blipFill>
        <p:spPr>
          <a:xfrm>
            <a:off x="8079241" y="2265181"/>
            <a:ext cx="1005568" cy="601873"/>
          </a:xfrm>
          <a:prstGeom prst="rect">
            <a:avLst/>
          </a:prstGeom>
        </p:spPr>
      </p:pic>
      <p:pic>
        <p:nvPicPr>
          <p:cNvPr id="7" name="图片 6" descr="post_object_image_3843359334"/>
          <p:cNvPicPr>
            <a:picLocks noChangeAspect="1"/>
          </p:cNvPicPr>
          <p:nvPr/>
        </p:nvPicPr>
        <p:blipFill>
          <a:blip r:embed="rId5"/>
          <a:stretch>
            <a:fillRect/>
          </a:stretch>
        </p:blipFill>
        <p:spPr>
          <a:xfrm>
            <a:off x="6952570" y="3935866"/>
            <a:ext cx="3476625" cy="4000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46298" y="305564"/>
            <a:ext cx="10972888" cy="711206"/>
          </a:xfrm>
        </p:spPr>
        <p:txBody>
          <a:bodyPr/>
          <a:p>
            <a:r>
              <a:rPr lang="en-US" altLang="zh-CN" sz="2400">
                <a:solidFill>
                  <a:schemeClr val="tx1"/>
                </a:solidFill>
                <a:latin typeface="微软雅黑" charset="0"/>
                <a:ea typeface="微软雅黑" charset="0"/>
              </a:rPr>
              <a:t>3.3. Effect of Particle Number_Small </a:t>
            </a:r>
            <a:r>
              <a:rPr lang="en-US" altLang="zh-CN" sz="2400">
                <a:solidFill>
                  <a:schemeClr val="tx1"/>
                </a:solidFill>
                <a:latin typeface="微软雅黑" charset="0"/>
                <a:ea typeface="微软雅黑" charset="0"/>
                <a:cs typeface="Arial" panose="020B0604020202020204" pitchFamily="34" charset="0"/>
              </a:rPr>
              <a:t>system</a:t>
            </a:r>
            <a:endParaRPr lang="en-US" altLang="zh-CN" sz="2400"/>
          </a:p>
        </p:txBody>
      </p:sp>
      <p:sp>
        <p:nvSpPr>
          <p:cNvPr id="3" name="内容占位符 2"/>
          <p:cNvSpPr>
            <a:spLocks noGrp="1"/>
          </p:cNvSpPr>
          <p:nvPr>
            <p:ph idx="1"/>
          </p:nvPr>
        </p:nvSpPr>
        <p:spPr>
          <a:xfrm>
            <a:off x="5594373" y="1006327"/>
            <a:ext cx="6334080" cy="4845345"/>
          </a:xfrm>
        </p:spPr>
        <p:txBody>
          <a:bodyPr/>
          <a:p>
            <a:pPr marL="0" indent="0">
              <a:buNone/>
            </a:pPr>
            <a:r>
              <a:rPr lang="en-US" altLang="zh-CN" sz="1800"/>
              <a:t>Smaller systems are nevertheless expected to exhibit more pronounced statistical noise and larger instantaneous fluctuations.</a:t>
            </a:r>
            <a:endParaRPr lang="en-US" altLang="zh-CN" sz="1800"/>
          </a:p>
          <a:p>
            <a:pPr marL="0" indent="0">
              <a:buNone/>
            </a:pPr>
            <a:r>
              <a:rPr lang="en-US" altLang="zh-CN" sz="1600" b="1"/>
              <a:t>Upper panel: instantaneous temperature fluctuations</a:t>
            </a:r>
            <a:endParaRPr lang="en-US" altLang="zh-CN" sz="1600" b="1"/>
          </a:p>
          <a:p>
            <a:pPr marL="0" indent="0">
              <a:buNone/>
            </a:pPr>
            <a:r>
              <a:rPr lang="en-US" altLang="zh-CN" sz="1600"/>
              <a:t>The instantaneous kinetic energy is</a:t>
            </a:r>
            <a:endParaRPr lang="en-US" altLang="zh-CN" sz="1600"/>
          </a:p>
          <a:p>
            <a:pPr marL="0" indent="0">
              <a:buNone/>
            </a:pPr>
            <a:endParaRPr lang="en-US" altLang="zh-CN" sz="1600"/>
          </a:p>
          <a:p>
            <a:pPr marL="0" indent="0">
              <a:buNone/>
            </a:pPr>
            <a:endParaRPr lang="en-US" altLang="zh-CN" sz="1600"/>
          </a:p>
          <a:p>
            <a:pPr marL="0" indent="0">
              <a:buNone/>
            </a:pPr>
            <a:r>
              <a:rPr lang="en-US" altLang="zh-CN" sz="1600"/>
              <a:t>The instantaneous temperature is</a:t>
            </a:r>
            <a:endParaRPr lang="en-US" altLang="zh-CN" sz="1600"/>
          </a:p>
          <a:p>
            <a:pPr marL="0" indent="0">
              <a:buNone/>
            </a:pPr>
            <a:r>
              <a:rPr lang="en-US" altLang="zh-CN" sz="1600"/>
              <a:t>For a canonical system with 3N kinetic degrees of freedom, the relative temperature variance is expected to satisfy</a:t>
            </a:r>
            <a:endParaRPr lang="en-US" altLang="zh-CN" sz="1600"/>
          </a:p>
          <a:p>
            <a:pPr marL="0" indent="0">
              <a:buNone/>
            </a:pPr>
            <a:endParaRPr lang="en-US" altLang="zh-CN" sz="1600"/>
          </a:p>
          <a:p>
            <a:pPr marL="0" indent="0">
              <a:buNone/>
            </a:pPr>
            <a:endParaRPr lang="en-US" altLang="zh-CN" sz="1600"/>
          </a:p>
          <a:p>
            <a:pPr marL="0" indent="0">
              <a:buNone/>
            </a:pPr>
            <a:r>
              <a:rPr lang="en-US" altLang="zh-CN" sz="1600" b="1"/>
              <a:t>Lower panel: frame-wise KS deviations</a:t>
            </a:r>
            <a:endParaRPr lang="en-US" altLang="zh-CN" sz="1600" b="1"/>
          </a:p>
          <a:p>
            <a:pPr marL="0" indent="0">
              <a:buNone/>
            </a:pPr>
            <a:r>
              <a:rPr lang="en-US" altLang="zh-CN" sz="1600"/>
              <a:t>For ordinary finite sampling, the statistical error is generally expected to scale approximately as</a:t>
            </a:r>
            <a:endParaRPr lang="en-US" altLang="zh-CN" sz="1600"/>
          </a:p>
        </p:txBody>
      </p:sp>
      <p:pic>
        <p:nvPicPr>
          <p:cNvPr id="5" name="图片 4"/>
          <p:cNvPicPr>
            <a:picLocks noChangeAspect="1"/>
          </p:cNvPicPr>
          <p:nvPr/>
        </p:nvPicPr>
        <p:blipFill>
          <a:blip r:embed="rId1"/>
          <a:srcRect l="16289" r="16468" b="93015"/>
          <a:stretch>
            <a:fillRect/>
          </a:stretch>
        </p:blipFill>
        <p:spPr>
          <a:xfrm>
            <a:off x="296636" y="1193619"/>
            <a:ext cx="5111841" cy="207406"/>
          </a:xfrm>
          <a:prstGeom prst="rect">
            <a:avLst/>
          </a:prstGeom>
        </p:spPr>
      </p:pic>
      <p:pic>
        <p:nvPicPr>
          <p:cNvPr id="2097160" name="picture 220"/>
          <p:cNvPicPr>
            <a:picLocks noChangeAspect="1"/>
          </p:cNvPicPr>
          <p:nvPr/>
        </p:nvPicPr>
        <p:blipFill>
          <a:blip r:embed="rId2"/>
          <a:stretch>
            <a:fillRect/>
          </a:stretch>
        </p:blipFill>
        <p:spPr>
          <a:xfrm rot="21600000">
            <a:off x="9816775" y="0"/>
            <a:ext cx="2342909" cy="621220"/>
          </a:xfrm>
          <a:prstGeom prst="rect">
            <a:avLst/>
          </a:prstGeom>
        </p:spPr>
      </p:pic>
      <p:pic>
        <p:nvPicPr>
          <p:cNvPr id="6" name="图片 5"/>
          <p:cNvPicPr>
            <a:picLocks noChangeAspect="1"/>
          </p:cNvPicPr>
          <p:nvPr/>
        </p:nvPicPr>
        <p:blipFill>
          <a:blip r:embed="rId1"/>
          <a:srcRect t="12830" r="49761"/>
          <a:stretch>
            <a:fillRect/>
          </a:stretch>
        </p:blipFill>
        <p:spPr>
          <a:xfrm>
            <a:off x="854482" y="1400991"/>
            <a:ext cx="3819163" cy="2588511"/>
          </a:xfrm>
          <a:prstGeom prst="rect">
            <a:avLst/>
          </a:prstGeom>
        </p:spPr>
      </p:pic>
      <p:pic>
        <p:nvPicPr>
          <p:cNvPr id="7" name="图片 6"/>
          <p:cNvPicPr>
            <a:picLocks noChangeAspect="1"/>
          </p:cNvPicPr>
          <p:nvPr/>
        </p:nvPicPr>
        <p:blipFill>
          <a:blip r:embed="rId1"/>
          <a:srcRect l="49403" t="12372"/>
          <a:stretch>
            <a:fillRect/>
          </a:stretch>
        </p:blipFill>
        <p:spPr>
          <a:xfrm>
            <a:off x="800100" y="3989478"/>
            <a:ext cx="3873545" cy="2620497"/>
          </a:xfrm>
          <a:prstGeom prst="rect">
            <a:avLst/>
          </a:prstGeom>
        </p:spPr>
      </p:pic>
      <p:pic>
        <p:nvPicPr>
          <p:cNvPr id="8" name="图片 7" descr="post_object_image_3510676605"/>
          <p:cNvPicPr>
            <a:picLocks noChangeAspect="1"/>
          </p:cNvPicPr>
          <p:nvPr/>
        </p:nvPicPr>
        <p:blipFill>
          <a:blip r:embed="rId3"/>
          <a:stretch>
            <a:fillRect/>
          </a:stretch>
        </p:blipFill>
        <p:spPr>
          <a:xfrm>
            <a:off x="7068004" y="2503714"/>
            <a:ext cx="3386818" cy="592878"/>
          </a:xfrm>
          <a:prstGeom prst="rect">
            <a:avLst/>
          </a:prstGeom>
        </p:spPr>
      </p:pic>
      <p:pic>
        <p:nvPicPr>
          <p:cNvPr id="9" name="图片 8" descr="post_object_image_2638602519"/>
          <p:cNvPicPr>
            <a:picLocks noChangeAspect="1"/>
          </p:cNvPicPr>
          <p:nvPr/>
        </p:nvPicPr>
        <p:blipFill>
          <a:blip r:embed="rId4"/>
          <a:stretch>
            <a:fillRect/>
          </a:stretch>
        </p:blipFill>
        <p:spPr>
          <a:xfrm>
            <a:off x="9173006" y="3096578"/>
            <a:ext cx="1281793" cy="555958"/>
          </a:xfrm>
          <a:prstGeom prst="rect">
            <a:avLst/>
          </a:prstGeom>
        </p:spPr>
      </p:pic>
      <p:pic>
        <p:nvPicPr>
          <p:cNvPr id="10" name="图片 9" descr="post_object_image_1275210747"/>
          <p:cNvPicPr>
            <a:picLocks noChangeAspect="1"/>
          </p:cNvPicPr>
          <p:nvPr/>
        </p:nvPicPr>
        <p:blipFill>
          <a:blip r:embed="rId5"/>
          <a:stretch>
            <a:fillRect/>
          </a:stretch>
        </p:blipFill>
        <p:spPr>
          <a:xfrm>
            <a:off x="8188552" y="5737452"/>
            <a:ext cx="1145721" cy="525776"/>
          </a:xfrm>
          <a:prstGeom prst="rect">
            <a:avLst/>
          </a:prstGeom>
        </p:spPr>
      </p:pic>
      <p:pic>
        <p:nvPicPr>
          <p:cNvPr id="11" name="图片 10" descr="post_object_image_2292977043"/>
          <p:cNvPicPr>
            <a:picLocks noChangeAspect="1"/>
          </p:cNvPicPr>
          <p:nvPr/>
        </p:nvPicPr>
        <p:blipFill>
          <a:blip r:embed="rId6"/>
          <a:stretch>
            <a:fillRect/>
          </a:stretch>
        </p:blipFill>
        <p:spPr>
          <a:xfrm>
            <a:off x="8077994" y="4133412"/>
            <a:ext cx="1366838" cy="57216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p:nvPr>
            <p:ph type="title"/>
          </p:nvPr>
        </p:nvSpPr>
        <p:spPr>
          <a:xfrm>
            <a:off x="609556" y="513073"/>
            <a:ext cx="10972888" cy="711206"/>
          </a:xfrm>
        </p:spPr>
        <p:txBody>
          <a:bodyPr/>
          <a:p>
            <a:r>
              <a:rPr lang="en-US" altLang="zh-CN" sz="2400"/>
              <a:t>3.4. Thermostat Effects</a:t>
            </a:r>
            <a:endParaRPr lang="en-US" altLang="zh-CN" sz="2400"/>
          </a:p>
        </p:txBody>
      </p:sp>
      <p:pic>
        <p:nvPicPr>
          <p:cNvPr id="7" name="图片 6"/>
          <p:cNvPicPr>
            <a:picLocks noChangeAspect="1"/>
          </p:cNvPicPr>
          <p:nvPr/>
        </p:nvPicPr>
        <p:blipFill>
          <a:blip r:embed="rId1"/>
          <a:stretch>
            <a:fillRect/>
          </a:stretch>
        </p:blipFill>
        <p:spPr>
          <a:xfrm>
            <a:off x="810305" y="1224320"/>
            <a:ext cx="5200142" cy="3364406"/>
          </a:xfrm>
          <a:prstGeom prst="rect">
            <a:avLst/>
          </a:prstGeom>
        </p:spPr>
      </p:pic>
      <p:pic>
        <p:nvPicPr>
          <p:cNvPr id="2097160" name="picture 220"/>
          <p:cNvPicPr>
            <a:picLocks noChangeAspect="1"/>
          </p:cNvPicPr>
          <p:nvPr/>
        </p:nvPicPr>
        <p:blipFill>
          <a:blip r:embed="rId2"/>
          <a:stretch>
            <a:fillRect/>
          </a:stretch>
        </p:blipFill>
        <p:spPr>
          <a:xfrm rot="21600000">
            <a:off x="9816775" y="0"/>
            <a:ext cx="2342909" cy="621220"/>
          </a:xfrm>
          <a:prstGeom prst="rect">
            <a:avLst/>
          </a:prstGeom>
        </p:spPr>
      </p:pic>
      <p:sp>
        <p:nvSpPr>
          <p:cNvPr id="11" name="文本框 10"/>
          <p:cNvSpPr txBox="1"/>
          <p:nvPr userDrawn="1"/>
        </p:nvSpPr>
        <p:spPr>
          <a:xfrm>
            <a:off x="732518" y="4674054"/>
            <a:ext cx="10726964" cy="1871023"/>
          </a:xfrm>
          <a:prstGeom prst="rect">
            <a:avLst/>
          </a:prstGeom>
        </p:spPr>
        <p:txBody>
          <a:bodyPr wrap="square" rtlCol="0">
            <a:noAutofit/>
          </a:bodyPr>
          <a:p>
            <a:r>
              <a:rPr lang="en-US" altLang="zh-CN" sz="1400"/>
              <a:t>The Langevin thermostat produces a speed distribution close to the theoretical Maxwell curve.</a:t>
            </a:r>
            <a:endParaRPr lang="en-US" altLang="zh-CN" sz="1400"/>
          </a:p>
          <a:p>
            <a:endParaRPr lang="en-US" altLang="zh-CN" sz="1400"/>
          </a:p>
          <a:p>
            <a:r>
              <a:rPr lang="en-US" altLang="zh-CN" sz="1400"/>
              <a:t>The Andersen thermostat generates the correct equilibrium speed distribution.</a:t>
            </a:r>
            <a:endParaRPr lang="en-US" altLang="zh-CN" sz="1400"/>
          </a:p>
          <a:p>
            <a:endParaRPr lang="en-US" altLang="zh-CN" sz="1400"/>
          </a:p>
          <a:p>
            <a:r>
              <a:rPr lang="en-US" altLang="zh-CN" sz="1400"/>
              <a:t>Based only on the speed histogram, one might incorrectly conclude that the Berendsen thermostat is also correct.</a:t>
            </a:r>
            <a:endParaRPr lang="en-US" altLang="zh-CN" sz="1400"/>
          </a:p>
          <a:p>
            <a:endParaRPr lang="en-US" altLang="zh-CN" sz="1400"/>
          </a:p>
          <a:p>
            <a:r>
              <a:rPr lang="en-US" altLang="zh-CN" sz="1400"/>
              <a:t>NVE is not a thermostat. Since the initial velocities are sampled from a Maxwell–Boltzmann distribution, the speed distribution may retain an approximately Maxwellian shape for a long time.</a:t>
            </a:r>
            <a:endParaRPr lang="en-US" altLang="zh-CN" sz="1400"/>
          </a:p>
        </p:txBody>
      </p:sp>
      <p:sp>
        <p:nvSpPr>
          <p:cNvPr id="12" name="文本框 11"/>
          <p:cNvSpPr txBox="1"/>
          <p:nvPr userDrawn="1"/>
        </p:nvSpPr>
        <p:spPr>
          <a:xfrm>
            <a:off x="6364764" y="880745"/>
            <a:ext cx="5607685" cy="3401695"/>
          </a:xfrm>
          <a:prstGeom prst="rect">
            <a:avLst/>
          </a:prstGeom>
        </p:spPr>
        <p:txBody>
          <a:bodyPr wrap="square" rtlCol="0">
            <a:noAutofit/>
          </a:bodyPr>
          <a:p>
            <a:r>
              <a:rPr lang="en-US" altLang="zh-CN" sz="1400"/>
              <a:t>The speed of each particle was calculated from its Cartesian velocity components:</a:t>
            </a:r>
            <a:endParaRPr lang="en-US" altLang="zh-CN" sz="1400"/>
          </a:p>
          <a:p>
            <a:endParaRPr lang="en-US" altLang="zh-CN" sz="1400"/>
          </a:p>
          <a:p>
            <a:endParaRPr lang="en-US" altLang="zh-CN" sz="1400"/>
          </a:p>
          <a:p>
            <a:endParaRPr lang="en-US" altLang="zh-CN" sz="1400"/>
          </a:p>
          <a:p>
            <a:r>
              <a:rPr lang="en-US" altLang="zh-CN" sz="1400"/>
              <a:t>The resulting speed histogram was then compared with the theoretical Maxwell distribution at 300 K:</a:t>
            </a:r>
            <a:endParaRPr lang="en-US" altLang="zh-CN" sz="1400"/>
          </a:p>
          <a:p>
            <a:endParaRPr lang="en-US" altLang="zh-CN" sz="1400"/>
          </a:p>
          <a:p>
            <a:endParaRPr lang="en-US" altLang="zh-CN" sz="1400"/>
          </a:p>
          <a:p>
            <a:endParaRPr lang="en-US" altLang="zh-CN" sz="1400"/>
          </a:p>
          <a:p>
            <a:r>
              <a:rPr lang="en-US" altLang="zh-CN" sz="1400"/>
              <a:t>                Here,</a:t>
            </a:r>
            <a:endParaRPr lang="en-US" altLang="zh-CN" sz="1400"/>
          </a:p>
        </p:txBody>
      </p:sp>
      <p:pic>
        <p:nvPicPr>
          <p:cNvPr id="13" name="图片 12" descr="post_object_image_43940950"/>
          <p:cNvPicPr>
            <a:picLocks noChangeAspect="1"/>
          </p:cNvPicPr>
          <p:nvPr/>
        </p:nvPicPr>
        <p:blipFill>
          <a:blip r:embed="rId3"/>
          <a:stretch>
            <a:fillRect/>
          </a:stretch>
        </p:blipFill>
        <p:spPr>
          <a:xfrm>
            <a:off x="7489031" y="1438242"/>
            <a:ext cx="2678906" cy="447708"/>
          </a:xfrm>
          <a:prstGeom prst="rect">
            <a:avLst/>
          </a:prstGeom>
        </p:spPr>
      </p:pic>
      <p:pic>
        <p:nvPicPr>
          <p:cNvPr id="14" name="图片 13" descr="post_object_image_421474537"/>
          <p:cNvPicPr>
            <a:picLocks noChangeAspect="1"/>
          </p:cNvPicPr>
          <p:nvPr/>
        </p:nvPicPr>
        <p:blipFill>
          <a:blip r:embed="rId4"/>
          <a:stretch>
            <a:fillRect/>
          </a:stretch>
        </p:blipFill>
        <p:spPr>
          <a:xfrm>
            <a:off x="7608034" y="2420779"/>
            <a:ext cx="2440900" cy="696257"/>
          </a:xfrm>
          <a:prstGeom prst="rect">
            <a:avLst/>
          </a:prstGeom>
        </p:spPr>
      </p:pic>
      <p:pic>
        <p:nvPicPr>
          <p:cNvPr id="15" name="图片 14" descr="post_object_image_3753418215"/>
          <p:cNvPicPr>
            <a:picLocks noChangeAspect="1"/>
          </p:cNvPicPr>
          <p:nvPr/>
        </p:nvPicPr>
        <p:blipFill>
          <a:blip r:embed="rId5"/>
          <a:stretch>
            <a:fillRect/>
          </a:stretch>
        </p:blipFill>
        <p:spPr>
          <a:xfrm>
            <a:off x="8372653" y="3289587"/>
            <a:ext cx="911662" cy="5537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09556" y="301182"/>
            <a:ext cx="10972888" cy="711206"/>
          </a:xfrm>
        </p:spPr>
        <p:txBody>
          <a:bodyPr/>
          <a:p>
            <a:r>
              <a:rPr lang="en-US" altLang="zh-CN" sz="2400"/>
              <a:t>3.4. Thermostat Effects</a:t>
            </a:r>
            <a:endParaRPr lang="en-US" altLang="zh-CN" sz="2400"/>
          </a:p>
        </p:txBody>
      </p:sp>
      <p:sp>
        <p:nvSpPr>
          <p:cNvPr id="3" name="内容占位符 2"/>
          <p:cNvSpPr>
            <a:spLocks noGrp="1"/>
          </p:cNvSpPr>
          <p:nvPr>
            <p:ph idx="1"/>
          </p:nvPr>
        </p:nvSpPr>
        <p:spPr>
          <a:xfrm>
            <a:off x="6450491" y="1012371"/>
            <a:ext cx="5132019" cy="5236014"/>
          </a:xfrm>
        </p:spPr>
        <p:txBody>
          <a:bodyPr/>
          <a:p>
            <a:pPr marL="0" indent="0">
              <a:buNone/>
            </a:pPr>
            <a:r>
              <a:rPr lang="en-US" altLang="zh-CN" sz="1600"/>
              <a:t>The relative variance of the instantaneous temperature is</a:t>
            </a:r>
            <a:endParaRPr lang="en-US" altLang="zh-CN" sz="1600"/>
          </a:p>
          <a:p>
            <a:pPr marL="0" indent="0">
              <a:buNone/>
            </a:pPr>
            <a:endParaRPr lang="en-US" altLang="zh-CN" sz="1600"/>
          </a:p>
          <a:p>
            <a:pPr marL="0" indent="0">
              <a:buNone/>
            </a:pPr>
            <a:r>
              <a:rPr lang="en-US" altLang="zh-CN" sz="1600"/>
              <a:t>The relative standard deviation is therefore</a:t>
            </a:r>
            <a:endParaRPr lang="en-US" altLang="zh-CN" sz="1600"/>
          </a:p>
          <a:p>
            <a:pPr marL="0" indent="0">
              <a:buNone/>
            </a:pPr>
            <a:endParaRPr lang="en-US" altLang="zh-CN" sz="1600"/>
          </a:p>
          <a:p>
            <a:pPr marL="0" indent="0">
              <a:buNone/>
            </a:pPr>
            <a:endParaRPr lang="en-US" altLang="zh-CN" sz="1600"/>
          </a:p>
          <a:p>
            <a:pPr marL="0" indent="0">
              <a:buNone/>
            </a:pPr>
            <a:r>
              <a:rPr lang="en-US" altLang="zh-CN" sz="1600"/>
              <a:t>For</a:t>
            </a:r>
            <a:endParaRPr lang="en-US" altLang="zh-CN" sz="1600"/>
          </a:p>
        </p:txBody>
      </p:sp>
      <p:pic>
        <p:nvPicPr>
          <p:cNvPr id="2097160" name="picture 220"/>
          <p:cNvPicPr>
            <a:picLocks noChangeAspect="1"/>
          </p:cNvPicPr>
          <p:nvPr/>
        </p:nvPicPr>
        <p:blipFill>
          <a:blip r:embed="rId1"/>
          <a:stretch>
            <a:fillRect/>
          </a:stretch>
        </p:blipFill>
        <p:spPr>
          <a:xfrm rot="21600000">
            <a:off x="9816775" y="0"/>
            <a:ext cx="2342909" cy="621220"/>
          </a:xfrm>
          <a:prstGeom prst="rect">
            <a:avLst/>
          </a:prstGeom>
        </p:spPr>
      </p:pic>
      <p:pic>
        <p:nvPicPr>
          <p:cNvPr id="8" name="图片 7"/>
          <p:cNvPicPr>
            <a:picLocks noChangeAspect="1"/>
          </p:cNvPicPr>
          <p:nvPr/>
        </p:nvPicPr>
        <p:blipFill>
          <a:blip r:embed="rId2"/>
          <a:stretch>
            <a:fillRect/>
          </a:stretch>
        </p:blipFill>
        <p:spPr>
          <a:xfrm>
            <a:off x="422502" y="903514"/>
            <a:ext cx="5701009" cy="3392335"/>
          </a:xfrm>
          <a:prstGeom prst="rect">
            <a:avLst/>
          </a:prstGeom>
        </p:spPr>
      </p:pic>
      <p:pic>
        <p:nvPicPr>
          <p:cNvPr id="5" name="图片 4" descr="post_object_image_3771770395"/>
          <p:cNvPicPr>
            <a:picLocks noChangeAspect="1"/>
          </p:cNvPicPr>
          <p:nvPr/>
        </p:nvPicPr>
        <p:blipFill>
          <a:blip r:embed="rId3"/>
          <a:stretch>
            <a:fillRect/>
          </a:stretch>
        </p:blipFill>
        <p:spPr>
          <a:xfrm>
            <a:off x="8110537" y="1419224"/>
            <a:ext cx="1281113" cy="513979"/>
          </a:xfrm>
          <a:prstGeom prst="rect">
            <a:avLst/>
          </a:prstGeom>
        </p:spPr>
      </p:pic>
      <p:pic>
        <p:nvPicPr>
          <p:cNvPr id="6" name="图片 5" descr="post_object_image_2299199196"/>
          <p:cNvPicPr>
            <a:picLocks noChangeAspect="1"/>
          </p:cNvPicPr>
          <p:nvPr/>
        </p:nvPicPr>
        <p:blipFill>
          <a:blip r:embed="rId4"/>
          <a:stretch>
            <a:fillRect/>
          </a:stretch>
        </p:blipFill>
        <p:spPr>
          <a:xfrm>
            <a:off x="8205788" y="2214562"/>
            <a:ext cx="1090613" cy="576028"/>
          </a:xfrm>
          <a:prstGeom prst="rect">
            <a:avLst/>
          </a:prstGeom>
        </p:spPr>
      </p:pic>
      <p:pic>
        <p:nvPicPr>
          <p:cNvPr id="9" name="图片 8" descr="post_object_image_629056541"/>
          <p:cNvPicPr>
            <a:picLocks noChangeAspect="1"/>
          </p:cNvPicPr>
          <p:nvPr/>
        </p:nvPicPr>
        <p:blipFill>
          <a:blip r:embed="rId5"/>
          <a:stretch>
            <a:fillRect/>
          </a:stretch>
        </p:blipFill>
        <p:spPr>
          <a:xfrm>
            <a:off x="6917531" y="2955131"/>
            <a:ext cx="2667000" cy="257175"/>
          </a:xfrm>
          <a:prstGeom prst="rect">
            <a:avLst/>
          </a:prstGeom>
        </p:spPr>
      </p:pic>
      <p:pic>
        <p:nvPicPr>
          <p:cNvPr id="10" name="图片 9" descr="post_object_image_3110097824"/>
          <p:cNvPicPr>
            <a:picLocks noChangeAspect="1"/>
          </p:cNvPicPr>
          <p:nvPr/>
        </p:nvPicPr>
        <p:blipFill>
          <a:blip r:embed="rId6"/>
          <a:stretch>
            <a:fillRect/>
          </a:stretch>
        </p:blipFill>
        <p:spPr>
          <a:xfrm>
            <a:off x="7816298" y="3212238"/>
            <a:ext cx="2400406" cy="545203"/>
          </a:xfrm>
          <a:prstGeom prst="rect">
            <a:avLst/>
          </a:prstGeom>
        </p:spPr>
      </p:pic>
      <p:sp>
        <p:nvSpPr>
          <p:cNvPr id="11" name="文本框 10"/>
          <p:cNvSpPr txBox="1"/>
          <p:nvPr userDrawn="1"/>
        </p:nvSpPr>
        <p:spPr>
          <a:xfrm>
            <a:off x="609600" y="4404768"/>
            <a:ext cx="10844530" cy="2245360"/>
          </a:xfrm>
          <a:prstGeom prst="rect">
            <a:avLst/>
          </a:prstGeom>
        </p:spPr>
        <p:txBody>
          <a:bodyPr wrap="square" rtlCol="0">
            <a:spAutoFit/>
          </a:bodyPr>
          <a:p>
            <a:r>
              <a:rPr lang="en-US" altLang="zh-CN" sz="1400"/>
              <a:t>Langevin</a:t>
            </a:r>
            <a:r>
              <a:rPr lang="zh-CN" altLang="en-US" sz="1400"/>
              <a:t>：</a:t>
            </a:r>
            <a:r>
              <a:rPr lang="en-US" altLang="zh-CN" sz="1400"/>
              <a:t>The instantaneous temperature fluctuates randomly around 300 K.</a:t>
            </a:r>
            <a:endParaRPr lang="en-US" altLang="zh-CN" sz="1400"/>
          </a:p>
          <a:p>
            <a:endParaRPr lang="en-US" altLang="zh-CN" sz="1400"/>
          </a:p>
          <a:p>
            <a:r>
              <a:rPr lang="en-US" altLang="zh-CN" sz="1400"/>
              <a:t>Andersen</a:t>
            </a:r>
            <a:r>
              <a:rPr lang="zh-CN" altLang="en-US" sz="1400"/>
              <a:t>：</a:t>
            </a:r>
            <a:r>
              <a:rPr lang="en-US" altLang="zh-CN" sz="1400"/>
              <a:t>The temperature also fluctuates around 300 K. The trajectory may appear more discontinuous than that obtained with Langevin because particle velocities are randomly resampled after collisions with the fictitious heat bath.</a:t>
            </a:r>
            <a:endParaRPr lang="en-US" altLang="zh-CN" sz="1400"/>
          </a:p>
          <a:p>
            <a:endParaRPr lang="en-US" altLang="zh-CN" sz="1400"/>
          </a:p>
          <a:p>
            <a:r>
              <a:rPr lang="en-US" altLang="zh-CN" sz="1400"/>
              <a:t>Berendsen</a:t>
            </a:r>
            <a:r>
              <a:rPr lang="zh-CN" altLang="en-US" sz="1400"/>
              <a:t>：</a:t>
            </a:r>
            <a:r>
              <a:rPr lang="en-US" altLang="zh-CN" sz="1400"/>
              <a:t>The temperature is tightly driven towards 300 K. The trajectory is therefore much smoother, and the temperature fluctuations are strongly suppressed.</a:t>
            </a:r>
            <a:endParaRPr lang="en-US" altLang="zh-CN" sz="1400"/>
          </a:p>
          <a:p>
            <a:endParaRPr lang="en-US" altLang="zh-CN" sz="1400"/>
          </a:p>
          <a:p>
            <a:r>
              <a:rPr lang="en-US" altLang="zh-CN" sz="1400"/>
              <a:t>NVE</a:t>
            </a:r>
            <a:r>
              <a:rPr lang="zh-CN" altLang="en-US" sz="1400"/>
              <a:t>：</a:t>
            </a:r>
            <a:r>
              <a:rPr lang="en-US" altLang="zh-CN" sz="1400"/>
              <a:t>There is no target-temperature control. Because the simulation box is very large and the gas is extremely dilute, the kinetic energy may remain nearly constant over a long period, resulting in very small temperature fluctuations.</a:t>
            </a:r>
            <a:endParaRPr lang="en-US" altLang="zh-CN" sz="14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09600" y="278350"/>
            <a:ext cx="10972888" cy="711206"/>
          </a:xfrm>
        </p:spPr>
        <p:txBody>
          <a:bodyPr/>
          <a:p>
            <a:r>
              <a:rPr lang="en-US" altLang="zh-CN" sz="2400"/>
              <a:t>3.4. Thermostat Effects</a:t>
            </a:r>
            <a:endParaRPr lang="en-US" altLang="zh-CN" sz="2400"/>
          </a:p>
        </p:txBody>
      </p:sp>
      <p:sp>
        <p:nvSpPr>
          <p:cNvPr id="3" name="内容占位符 2"/>
          <p:cNvSpPr>
            <a:spLocks noGrp="1"/>
          </p:cNvSpPr>
          <p:nvPr>
            <p:ph idx="1"/>
          </p:nvPr>
        </p:nvSpPr>
        <p:spPr>
          <a:xfrm>
            <a:off x="500063" y="4000143"/>
            <a:ext cx="3305263" cy="2476134"/>
          </a:xfrm>
        </p:spPr>
        <p:txBody>
          <a:bodyPr/>
          <a:p>
            <a:pPr marL="0" indent="0">
              <a:buNone/>
            </a:pPr>
            <a:r>
              <a:rPr lang="en-US" altLang="zh-CN" sz="1400" b="1">
                <a:solidFill>
                  <a:srgbClr val="C00000"/>
                </a:solidFill>
              </a:rPr>
              <a:t>Mean temperature with temporal standard deviation</a:t>
            </a:r>
            <a:endParaRPr lang="en-US" altLang="zh-CN" sz="1400" b="1">
              <a:solidFill>
                <a:srgbClr val="C00000"/>
              </a:solidFill>
            </a:endParaRPr>
          </a:p>
          <a:p>
            <a:pPr marL="0" indent="0">
              <a:buNone/>
            </a:pPr>
            <a:r>
              <a:rPr lang="en-US" altLang="zh-CN" sz="1400"/>
              <a:t>The Berendsen thermostat drives the temperature too tightly towards the target value, significantly suppressing the natural fluctuations in kinetic energy and temperature.</a:t>
            </a:r>
            <a:endParaRPr lang="en-US" altLang="zh-CN" sz="1400"/>
          </a:p>
          <a:p>
            <a:pPr marL="0" indent="0">
              <a:buNone/>
            </a:pPr>
            <a:r>
              <a:rPr lang="en-US" altLang="zh-CN" sz="1400"/>
              <a:t>NVE has no heat bath; therefore, its temperature is determined by the initial total energy.</a:t>
            </a:r>
            <a:endParaRPr lang="en-US" altLang="zh-CN" sz="1400"/>
          </a:p>
        </p:txBody>
      </p:sp>
      <p:pic>
        <p:nvPicPr>
          <p:cNvPr id="4" name="图片 3"/>
          <p:cNvPicPr>
            <a:picLocks noChangeAspect="1"/>
          </p:cNvPicPr>
          <p:nvPr/>
        </p:nvPicPr>
        <p:blipFill>
          <a:blip r:embed="rId1"/>
          <a:stretch>
            <a:fillRect/>
          </a:stretch>
        </p:blipFill>
        <p:spPr>
          <a:xfrm>
            <a:off x="500038" y="989528"/>
            <a:ext cx="3524394" cy="2413444"/>
          </a:xfrm>
          <a:prstGeom prst="rect">
            <a:avLst/>
          </a:prstGeom>
        </p:spPr>
      </p:pic>
      <p:pic>
        <p:nvPicPr>
          <p:cNvPr id="5" name="图片 4"/>
          <p:cNvPicPr>
            <a:picLocks noChangeAspect="1"/>
          </p:cNvPicPr>
          <p:nvPr/>
        </p:nvPicPr>
        <p:blipFill>
          <a:blip r:embed="rId2"/>
          <a:stretch>
            <a:fillRect/>
          </a:stretch>
        </p:blipFill>
        <p:spPr>
          <a:xfrm>
            <a:off x="4114912" y="989528"/>
            <a:ext cx="3372810" cy="2413396"/>
          </a:xfrm>
          <a:prstGeom prst="rect">
            <a:avLst/>
          </a:prstGeom>
        </p:spPr>
      </p:pic>
      <p:pic>
        <p:nvPicPr>
          <p:cNvPr id="6" name="图片 5"/>
          <p:cNvPicPr>
            <a:picLocks noChangeAspect="1"/>
          </p:cNvPicPr>
          <p:nvPr/>
        </p:nvPicPr>
        <p:blipFill>
          <a:blip r:embed="rId3"/>
          <a:stretch>
            <a:fillRect/>
          </a:stretch>
        </p:blipFill>
        <p:spPr>
          <a:xfrm>
            <a:off x="7751731" y="989528"/>
            <a:ext cx="3830788" cy="2413396"/>
          </a:xfrm>
          <a:prstGeom prst="rect">
            <a:avLst/>
          </a:prstGeom>
        </p:spPr>
      </p:pic>
      <p:pic>
        <p:nvPicPr>
          <p:cNvPr id="2097160" name="picture 220"/>
          <p:cNvPicPr>
            <a:picLocks noChangeAspect="1"/>
          </p:cNvPicPr>
          <p:nvPr/>
        </p:nvPicPr>
        <p:blipFill>
          <a:blip r:embed="rId4"/>
          <a:stretch>
            <a:fillRect/>
          </a:stretch>
        </p:blipFill>
        <p:spPr>
          <a:xfrm rot="21600000">
            <a:off x="9816775" y="0"/>
            <a:ext cx="2342909" cy="621220"/>
          </a:xfrm>
          <a:prstGeom prst="rect">
            <a:avLst/>
          </a:prstGeom>
        </p:spPr>
      </p:pic>
      <p:pic>
        <p:nvPicPr>
          <p:cNvPr id="8" name="图片 7" descr="post_object_image_160337080"/>
          <p:cNvPicPr>
            <a:picLocks noChangeAspect="1"/>
          </p:cNvPicPr>
          <p:nvPr/>
        </p:nvPicPr>
        <p:blipFill>
          <a:blip r:embed="rId5"/>
          <a:stretch>
            <a:fillRect/>
          </a:stretch>
        </p:blipFill>
        <p:spPr>
          <a:xfrm>
            <a:off x="1368954" y="3473172"/>
            <a:ext cx="1786467" cy="472888"/>
          </a:xfrm>
          <a:prstGeom prst="rect">
            <a:avLst/>
          </a:prstGeom>
        </p:spPr>
      </p:pic>
      <p:pic>
        <p:nvPicPr>
          <p:cNvPr id="9" name="图片 8" descr="post_object_image_3282437050"/>
          <p:cNvPicPr>
            <a:picLocks noChangeAspect="1"/>
          </p:cNvPicPr>
          <p:nvPr/>
        </p:nvPicPr>
        <p:blipFill>
          <a:blip r:embed="rId6"/>
          <a:stretch>
            <a:fillRect/>
          </a:stretch>
        </p:blipFill>
        <p:spPr>
          <a:xfrm>
            <a:off x="4925549" y="3473172"/>
            <a:ext cx="1751542" cy="477693"/>
          </a:xfrm>
          <a:prstGeom prst="rect">
            <a:avLst/>
          </a:prstGeom>
        </p:spPr>
      </p:pic>
      <p:pic>
        <p:nvPicPr>
          <p:cNvPr id="10" name="图片 9" descr="post_object_image_1607919739"/>
          <p:cNvPicPr>
            <a:picLocks noChangeAspect="1"/>
          </p:cNvPicPr>
          <p:nvPr/>
        </p:nvPicPr>
        <p:blipFill>
          <a:blip r:embed="rId7"/>
          <a:stretch>
            <a:fillRect/>
          </a:stretch>
        </p:blipFill>
        <p:spPr>
          <a:xfrm>
            <a:off x="4799542" y="1783715"/>
            <a:ext cx="515407" cy="154622"/>
          </a:xfrm>
          <a:prstGeom prst="rect">
            <a:avLst/>
          </a:prstGeom>
        </p:spPr>
      </p:pic>
      <p:pic>
        <p:nvPicPr>
          <p:cNvPr id="11" name="图片 10" descr="post_object_image_3033017864"/>
          <p:cNvPicPr>
            <a:picLocks noChangeAspect="1"/>
          </p:cNvPicPr>
          <p:nvPr/>
        </p:nvPicPr>
        <p:blipFill>
          <a:blip r:embed="rId8"/>
          <a:stretch>
            <a:fillRect/>
          </a:stretch>
        </p:blipFill>
        <p:spPr>
          <a:xfrm>
            <a:off x="5517092" y="1292225"/>
            <a:ext cx="509573" cy="130356"/>
          </a:xfrm>
          <a:prstGeom prst="rect">
            <a:avLst/>
          </a:prstGeom>
        </p:spPr>
      </p:pic>
      <p:pic>
        <p:nvPicPr>
          <p:cNvPr id="12" name="图片 11" descr="post_object_image_466379570"/>
          <p:cNvPicPr>
            <a:picLocks noChangeAspect="1"/>
          </p:cNvPicPr>
          <p:nvPr/>
        </p:nvPicPr>
        <p:blipFill>
          <a:blip r:embed="rId9"/>
          <a:stretch>
            <a:fillRect/>
          </a:stretch>
        </p:blipFill>
        <p:spPr>
          <a:xfrm>
            <a:off x="6900333" y="1359112"/>
            <a:ext cx="587334" cy="198225"/>
          </a:xfrm>
          <a:prstGeom prst="rect">
            <a:avLst/>
          </a:prstGeom>
        </p:spPr>
      </p:pic>
      <p:pic>
        <p:nvPicPr>
          <p:cNvPr id="13" name="图片 12" descr="post_object_image_2880725054"/>
          <p:cNvPicPr>
            <a:picLocks noChangeAspect="1"/>
          </p:cNvPicPr>
          <p:nvPr/>
        </p:nvPicPr>
        <p:blipFill>
          <a:blip r:embed="rId10"/>
          <a:stretch>
            <a:fillRect/>
          </a:stretch>
        </p:blipFill>
        <p:spPr>
          <a:xfrm>
            <a:off x="8135937" y="2991956"/>
            <a:ext cx="338667" cy="153939"/>
          </a:xfrm>
          <a:prstGeom prst="rect">
            <a:avLst/>
          </a:prstGeom>
        </p:spPr>
      </p:pic>
      <p:pic>
        <p:nvPicPr>
          <p:cNvPr id="14" name="图片 13" descr="post_object_image_3308302589"/>
          <p:cNvPicPr>
            <a:picLocks noChangeAspect="1"/>
          </p:cNvPicPr>
          <p:nvPr/>
        </p:nvPicPr>
        <p:blipFill>
          <a:blip r:embed="rId11"/>
          <a:stretch>
            <a:fillRect/>
          </a:stretch>
        </p:blipFill>
        <p:spPr>
          <a:xfrm>
            <a:off x="9023350" y="2889673"/>
            <a:ext cx="309187" cy="130810"/>
          </a:xfrm>
          <a:prstGeom prst="rect">
            <a:avLst/>
          </a:prstGeom>
        </p:spPr>
      </p:pic>
      <p:pic>
        <p:nvPicPr>
          <p:cNvPr id="15" name="图片 14" descr="post_object_image_3013842354"/>
          <p:cNvPicPr>
            <a:picLocks noChangeAspect="1"/>
          </p:cNvPicPr>
          <p:nvPr/>
        </p:nvPicPr>
        <p:blipFill>
          <a:blip r:embed="rId12"/>
          <a:stretch>
            <a:fillRect/>
          </a:stretch>
        </p:blipFill>
        <p:spPr>
          <a:xfrm>
            <a:off x="9874991" y="1703963"/>
            <a:ext cx="355812" cy="156058"/>
          </a:xfrm>
          <a:prstGeom prst="rect">
            <a:avLst/>
          </a:prstGeom>
        </p:spPr>
      </p:pic>
      <p:pic>
        <p:nvPicPr>
          <p:cNvPr id="16" name="图片 15" descr="post_object_image_3979275032"/>
          <p:cNvPicPr>
            <a:picLocks noChangeAspect="1"/>
          </p:cNvPicPr>
          <p:nvPr/>
        </p:nvPicPr>
        <p:blipFill>
          <a:blip r:embed="rId13"/>
          <a:stretch>
            <a:fillRect/>
          </a:stretch>
        </p:blipFill>
        <p:spPr>
          <a:xfrm>
            <a:off x="10702395" y="1861026"/>
            <a:ext cx="432542" cy="165152"/>
          </a:xfrm>
          <a:prstGeom prst="rect">
            <a:avLst/>
          </a:prstGeom>
        </p:spPr>
      </p:pic>
      <p:pic>
        <p:nvPicPr>
          <p:cNvPr id="17" name="图片 16" descr="post_object_image_2177123495"/>
          <p:cNvPicPr>
            <a:picLocks noChangeAspect="1"/>
          </p:cNvPicPr>
          <p:nvPr/>
        </p:nvPicPr>
        <p:blipFill>
          <a:blip r:embed="rId14"/>
          <a:stretch>
            <a:fillRect/>
          </a:stretch>
        </p:blipFill>
        <p:spPr>
          <a:xfrm>
            <a:off x="8037142" y="3473133"/>
            <a:ext cx="1295400" cy="581025"/>
          </a:xfrm>
          <a:prstGeom prst="rect">
            <a:avLst/>
          </a:prstGeom>
        </p:spPr>
      </p:pic>
      <p:pic>
        <p:nvPicPr>
          <p:cNvPr id="18" name="图片 17" descr="post_object_image_1460877906"/>
          <p:cNvPicPr>
            <a:picLocks noChangeAspect="1"/>
          </p:cNvPicPr>
          <p:nvPr/>
        </p:nvPicPr>
        <p:blipFill>
          <a:blip r:embed="rId15"/>
          <a:stretch>
            <a:fillRect/>
          </a:stretch>
        </p:blipFill>
        <p:spPr>
          <a:xfrm>
            <a:off x="9655704" y="3473133"/>
            <a:ext cx="1590675" cy="619125"/>
          </a:xfrm>
          <a:prstGeom prst="rect">
            <a:avLst/>
          </a:prstGeom>
        </p:spPr>
      </p:pic>
      <p:sp>
        <p:nvSpPr>
          <p:cNvPr id="20" name="文本框 19"/>
          <p:cNvSpPr txBox="1"/>
          <p:nvPr userDrawn="1"/>
        </p:nvSpPr>
        <p:spPr>
          <a:xfrm>
            <a:off x="4114919" y="4000143"/>
            <a:ext cx="3372803" cy="1891093"/>
          </a:xfrm>
          <a:prstGeom prst="rect">
            <a:avLst/>
          </a:prstGeom>
        </p:spPr>
        <p:txBody>
          <a:bodyPr wrap="square" rtlCol="0">
            <a:noAutofit/>
          </a:bodyPr>
          <a:p>
            <a:r>
              <a:rPr lang="en-US" altLang="zh-CN" sz="1400" b="1">
                <a:solidFill>
                  <a:srgbClr val="C00000"/>
                </a:solidFill>
              </a:rPr>
              <a:t>Relative temperature variance</a:t>
            </a:r>
            <a:endParaRPr lang="en-US" altLang="zh-CN" sz="1400" b="1">
              <a:solidFill>
                <a:srgbClr val="C00000"/>
              </a:solidFill>
            </a:endParaRPr>
          </a:p>
          <a:p>
            <a:endParaRPr lang="en-US" altLang="zh-CN" sz="1400" b="1">
              <a:solidFill>
                <a:srgbClr val="C00000"/>
              </a:solidFill>
            </a:endParaRPr>
          </a:p>
          <a:p>
            <a:r>
              <a:rPr lang="en-US" altLang="zh-CN" sz="1400"/>
              <a:t>The relative temperature variance obtained with the Berendsen thermostat is nearly zero. This clearly shows that Berendsen strongly suppresses temperature fluctuations and therefore does not generate a strictly correct canonical ensemble.</a:t>
            </a:r>
            <a:endParaRPr lang="en-US" altLang="zh-CN" sz="1400"/>
          </a:p>
        </p:txBody>
      </p:sp>
      <p:sp>
        <p:nvSpPr>
          <p:cNvPr id="21" name="文本框 20"/>
          <p:cNvSpPr txBox="1"/>
          <p:nvPr userDrawn="1"/>
        </p:nvSpPr>
        <p:spPr>
          <a:xfrm>
            <a:off x="7487722" y="4054197"/>
            <a:ext cx="4632841" cy="2637155"/>
          </a:xfrm>
          <a:prstGeom prst="rect">
            <a:avLst/>
          </a:prstGeom>
        </p:spPr>
        <p:txBody>
          <a:bodyPr wrap="square" rtlCol="0">
            <a:noAutofit/>
          </a:bodyPr>
          <a:p>
            <a:r>
              <a:rPr lang="en-US" altLang="zh-CN" sz="1400" b="1">
                <a:solidFill>
                  <a:srgbClr val="C00000"/>
                </a:solidFill>
              </a:rPr>
              <a:t>KS comparison</a:t>
            </a:r>
            <a:endParaRPr lang="en-US" altLang="zh-CN" sz="1400" b="1">
              <a:solidFill>
                <a:srgbClr val="C00000"/>
              </a:solidFill>
            </a:endParaRPr>
          </a:p>
          <a:p>
            <a:endParaRPr lang="en-US" altLang="zh-CN" sz="1400" b="1">
              <a:solidFill>
                <a:srgbClr val="C00000"/>
              </a:solidFill>
            </a:endParaRPr>
          </a:p>
          <a:p>
            <a:r>
              <a:rPr lang="en-US" altLang="zh-CN" sz="1400"/>
              <a:t>The larger error bars in the frame-wise KS statistics for Langevin and Andersen arise because their velocity distributions and temperatures undergo genuine temporal fluctuations.</a:t>
            </a:r>
            <a:endParaRPr lang="en-US" altLang="zh-CN" sz="1400"/>
          </a:p>
          <a:p>
            <a:endParaRPr lang="en-US" altLang="zh-CN" sz="1400"/>
          </a:p>
          <a:p>
            <a:r>
              <a:rPr lang="en-US" altLang="zh-CN" sz="1400"/>
              <a:t>In contrast, the frame-wise KS statistics for Berendsen and NVE remain nearly constant, indicating that their velocity distributions change very little over time. However, this does not imply that they provide more accurate ensemble sampling.</a:t>
            </a:r>
            <a:endParaRPr lang="en-US" altLang="zh-CN" sz="14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538321" y="509671"/>
            <a:ext cx="10972888" cy="711206"/>
          </a:xfrm>
        </p:spPr>
        <p:txBody>
          <a:bodyPr/>
          <a:p>
            <a:r>
              <a:rPr lang="en-US" altLang="zh-CN" sz="2400"/>
              <a:t>4. Main conclusions</a:t>
            </a:r>
            <a:endParaRPr lang="en-US" altLang="zh-CN" sz="2400"/>
          </a:p>
        </p:txBody>
      </p:sp>
      <p:sp>
        <p:nvSpPr>
          <p:cNvPr id="3" name="内容占位符 2"/>
          <p:cNvSpPr>
            <a:spLocks noGrp="1"/>
          </p:cNvSpPr>
          <p:nvPr>
            <p:ph idx="1"/>
          </p:nvPr>
        </p:nvSpPr>
        <p:spPr/>
        <p:txBody>
          <a:bodyPr/>
          <a:p>
            <a:endParaRPr lang="zh-CN" altLang="en-US"/>
          </a:p>
        </p:txBody>
      </p:sp>
      <p:pic>
        <p:nvPicPr>
          <p:cNvPr id="2097160" name="picture 220"/>
          <p:cNvPicPr>
            <a:picLocks noChangeAspect="1"/>
          </p:cNvPicPr>
          <p:nvPr/>
        </p:nvPicPr>
        <p:blipFill>
          <a:blip r:embed="rId1"/>
          <a:stretch>
            <a:fillRect/>
          </a:stretch>
        </p:blipFill>
        <p:spPr>
          <a:xfrm rot="21600000">
            <a:off x="9816775" y="0"/>
            <a:ext cx="2342909" cy="621220"/>
          </a:xfrm>
          <a:prstGeom prst="rect">
            <a:avLst/>
          </a:prstGeom>
        </p:spPr>
      </p:pic>
      <p:pic>
        <p:nvPicPr>
          <p:cNvPr id="4" name="图片 3" descr="post_object_image_1222026640"/>
          <p:cNvPicPr>
            <a:picLocks noChangeAspect="1"/>
          </p:cNvPicPr>
          <p:nvPr/>
        </p:nvPicPr>
        <p:blipFill>
          <a:blip r:embed="rId2"/>
          <a:stretch>
            <a:fillRect/>
          </a:stretch>
        </p:blipFill>
        <p:spPr>
          <a:xfrm>
            <a:off x="538316" y="1524000"/>
            <a:ext cx="11115368" cy="307657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62" name=""/>
        <p:cNvGrpSpPr/>
        <p:nvPr/>
      </p:nvGrpSpPr>
      <p:grpSpPr/>
      <p:sp>
        <p:nvSpPr>
          <p:cNvPr id="1048631" name="标题 1"/>
          <p:cNvSpPr>
            <a:spLocks noGrp="1"/>
          </p:cNvSpPr>
          <p:nvPr>
            <p:ph type="ctrTitle"/>
          </p:nvPr>
        </p:nvSpPr>
        <p:spPr>
          <a:xfrm>
            <a:off x="0" y="1404554"/>
            <a:ext cx="12191972" cy="4239282"/>
          </a:xfrm>
        </p:spPr>
        <p:txBody>
          <a:bodyPr/>
          <a:p>
            <a:r>
              <a:rPr lang="en-US" altLang="zh-CN" sz="4000"/>
              <a:t>Thanks for your attention.</a:t>
            </a:r>
            <a:br>
              <a:rPr lang="en-US" altLang="zh-CN" sz="4000"/>
            </a:br>
            <a:br>
              <a:rPr lang="en-US" altLang="zh-CN" sz="4000"/>
            </a:br>
            <a:br>
              <a:rPr lang="en-US" altLang="zh-CN" sz="3600"/>
            </a:br>
            <a:br>
              <a:rPr lang="en-US" altLang="zh-CN" sz="2600" b="1">
                <a:solidFill>
                  <a:srgbClr val="0054A6"/>
                </a:solidFill>
                <a:latin typeface="微软雅黑" charset="0"/>
                <a:ea typeface="微软雅黑" charset="0"/>
              </a:rPr>
            </a:br>
            <a:endParaRPr lang="en-US" altLang="zh-CN"/>
          </a:p>
        </p:txBody>
      </p:sp>
      <p:pic>
        <p:nvPicPr>
          <p:cNvPr id="2097274" name="图片 22"/>
          <p:cNvPicPr>
            <a:picLocks noChangeAspect="1"/>
          </p:cNvPicPr>
          <p:nvPr/>
        </p:nvPicPr>
        <p:blipFill>
          <a:blip r:embed="rId1"/>
          <a:stretch>
            <a:fillRect/>
          </a:stretch>
        </p:blipFill>
        <p:spPr>
          <a:xfrm>
            <a:off x="7218850" y="0"/>
            <a:ext cx="4973150" cy="1315443"/>
          </a:xfrm>
          <a:prstGeom prst="rect">
            <a:avLst/>
          </a:prstGeom>
        </p:spPr>
      </p:pic>
      <p:sp>
        <p:nvSpPr>
          <p:cNvPr id="1048633" name="矩形 3"/>
          <p:cNvSpPr/>
          <p:nvPr userDrawn="1"/>
        </p:nvSpPr>
        <p:spPr>
          <a:xfrm>
            <a:off x="544802" y="4423799"/>
            <a:ext cx="11102340" cy="83412"/>
          </a:xfrm>
          <a:prstGeom prst="rect">
            <a:avLst/>
          </a:prstGeom>
          <a:solidFill>
            <a:srgbClr val="C8DA43">
              <a:alpha val="100000"/>
            </a:srgbClr>
          </a:solidFill>
          <a:ln w="12700"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p>
            <a:pPr algn="ctr"/>
            <a:endParaRPr lang="zh-CN" altLang="en-US">
              <a:solidFill>
                <a:srgbClr val="D6FA37"/>
              </a:solidFill>
            </a:endParaRPr>
          </a:p>
        </p:txBody>
      </p:sp>
      <p:sp>
        <p:nvSpPr>
          <p:cNvPr id="1048587" name="副标题 2"/>
          <p:cNvSpPr>
            <a:spLocks noGrp="1"/>
          </p:cNvSpPr>
          <p:nvPr/>
        </p:nvSpPr>
        <p:spPr>
          <a:xfrm>
            <a:off x="1523972" y="4987725"/>
            <a:ext cx="9144000" cy="146295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微软雅黑" panose="020B0503020204020204" charset="-122"/>
                <a:ea typeface="微软雅黑" panose="020B050302020402020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微软雅黑" panose="020B0503020204020204" charset="-122"/>
                <a:ea typeface="微软雅黑" panose="020B0503020204020204" charset="-122"/>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微软雅黑" panose="020B0503020204020204" charset="-122"/>
                <a:ea typeface="微软雅黑" panose="020B0503020204020204" charset="-122"/>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微软雅黑" panose="020B0503020204020204" charset="-122"/>
                <a:ea typeface="微软雅黑" panose="020B0503020204020204" charset="-122"/>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微软雅黑" panose="020B0503020204020204" charset="-122"/>
                <a:ea typeface="微软雅黑" panose="020B0503020204020204" charset="-122"/>
                <a:cs typeface="+mn-cs"/>
              </a:defRPr>
            </a:lvl5pPr>
            <a:lvl6pPr marL="2286000" marR="0" indent="0" algn="ctr" defTabSz="914400" rtl="0" eaLnBrk="1" fontAlgn="auto" latinLnBrk="0" hangingPunct="1">
              <a:lnSpc>
                <a:spcPct val="90000"/>
              </a:lnSpc>
              <a:spcBef>
                <a:spcPts val="500"/>
              </a:spcBef>
              <a:spcAft>
                <a:spcPts val="0"/>
              </a:spcAft>
              <a:buClrTx/>
              <a:buSzTx/>
              <a:buFont typeface="Arial" panose="020B0604020202020204" pitchFamily="34" charset="0"/>
              <a:buNone/>
              <a:defRPr lang="zh-CN" altLang="en-US" sz="1600" kern="1200" dirty="0">
                <a:solidFill>
                  <a:schemeClr val="tx1"/>
                </a:solidFill>
                <a:latin typeface="微软雅黑" panose="020B0503020204020204" charset="-122"/>
                <a:ea typeface="微软雅黑" panose="020B0503020204020204" charset="-122"/>
                <a:cs typeface="+mn-cs"/>
              </a:defRPr>
            </a:lvl6pPr>
            <a:lvl7pPr marL="2743200" indent="0" algn="ctr" defTabSz="914400" rtl="0" eaLnBrk="1" latinLnBrk="0" hangingPunct="1">
              <a:lnSpc>
                <a:spcPct val="90000"/>
              </a:lnSpc>
              <a:spcBef>
                <a:spcPts val="500"/>
              </a:spcBef>
              <a:buFont typeface="Arial" panose="020B0604020202020204" pitchFamily="34" charset="0"/>
              <a:buNone/>
              <a:defRPr lang="en-US" altLang="zh-CN" sz="1600" kern="1200" dirty="0" smtClean="0">
                <a:solidFill>
                  <a:schemeClr val="tx1"/>
                </a:solidFill>
                <a:latin typeface="微软雅黑" panose="020B0503020204020204" charset="-122"/>
                <a:ea typeface="微软雅黑" panose="020B0503020204020204" charset="-122"/>
                <a:cs typeface="+mn-cs"/>
              </a:defRPr>
            </a:lvl7pPr>
            <a:lvl8pPr marL="3200400" indent="0" algn="ctr" defTabSz="914400" rtl="0" eaLnBrk="1" latinLnBrk="0" hangingPunct="1">
              <a:lnSpc>
                <a:spcPct val="90000"/>
              </a:lnSpc>
              <a:spcBef>
                <a:spcPts val="500"/>
              </a:spcBef>
              <a:buFont typeface="Arial" panose="020B0604020202020204" pitchFamily="34" charset="0"/>
              <a:buNone/>
              <a:defRPr lang="en-US" altLang="zh-CN" sz="1600" kern="1200" dirty="0" smtClean="0">
                <a:solidFill>
                  <a:schemeClr val="tx1"/>
                </a:solidFill>
                <a:latin typeface="微软雅黑" panose="020B0503020204020204" charset="-122"/>
                <a:ea typeface="微软雅黑" panose="020B0503020204020204" charset="-122"/>
                <a:cs typeface="+mn-cs"/>
              </a:defRPr>
            </a:lvl8pPr>
            <a:lvl9pPr marL="3657600" indent="0" algn="ctr" defTabSz="914400" rtl="0" eaLnBrk="1" latinLnBrk="0" hangingPunct="1">
              <a:lnSpc>
                <a:spcPct val="90000"/>
              </a:lnSpc>
              <a:spcBef>
                <a:spcPts val="500"/>
              </a:spcBef>
              <a:buFont typeface="Arial" panose="020B0604020202020204" pitchFamily="34" charset="0"/>
              <a:buNone/>
              <a:defRPr lang="en-US" altLang="zh-CN" sz="1600" kern="1200" dirty="0" smtClean="0">
                <a:solidFill>
                  <a:schemeClr val="tx1"/>
                </a:solidFill>
                <a:latin typeface="微软雅黑" panose="020B0503020204020204" charset="-122"/>
                <a:ea typeface="微软雅黑" panose="020B0503020204020204" charset="-122"/>
                <a:cs typeface="+mn-cs"/>
              </a:defRPr>
            </a:lvl9pPr>
          </a:lstStyle>
          <a:p>
            <a:r>
              <a:rPr lang="en-US" altLang="zh-CN"/>
              <a:t>Yuxuan Zhang</a:t>
            </a:r>
            <a:endParaRPr lang="en-US" altLang="zh-CN"/>
          </a:p>
          <a:p>
            <a:r>
              <a:rPr lang="en-US" altLang="zh-CN"/>
              <a:t>Yiyi Liang</a:t>
            </a:r>
            <a:endParaRPr lang="en-US" altLang="zh-CN"/>
          </a:p>
          <a:p>
            <a:r>
              <a:rPr lang="en-US" altLang="zh-CN"/>
              <a:t>29.07.2026</a:t>
            </a:r>
            <a:endParaRPr lang="en-US" altLang="zh-CN"/>
          </a:p>
          <a:p>
            <a:endParaRPr lang="en-US" altLang="zh-CN"/>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spect">
      <a:majorFont>
        <a:latin typeface="微软雅黑"/>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微软雅黑"/>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6561</Words>
  <Application>WPS Office WWO_wpscloud_20260708170905-59d7d5dabd</Application>
  <PresentationFormat>宽屏</PresentationFormat>
  <Paragraphs>230</Paragraphs>
  <Slides>14</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14</vt:i4>
      </vt:variant>
    </vt:vector>
  </HeadingPairs>
  <TitlesOfParts>
    <vt:vector size="23" baseType="lpstr">
      <vt:lpstr>Arial</vt:lpstr>
      <vt:lpstr>宋体</vt:lpstr>
      <vt:lpstr>Wingdings</vt:lpstr>
      <vt:lpstr>微软雅黑</vt:lpstr>
      <vt:lpstr>汉仪旗黑KW 55S</vt:lpstr>
      <vt:lpstr>微软雅黑</vt:lpstr>
      <vt:lpstr>汉仪书宋二KW</vt:lpstr>
      <vt:lpstr>Kingsoft Confetti</vt:lpstr>
      <vt:lpstr>Office 主题</vt:lpstr>
      <vt:lpstr> X-ray photoelectron spectroscopy – XPS     </vt:lpstr>
      <vt:lpstr>PowerPoint 演示文稿</vt:lpstr>
      <vt:lpstr>2. 过程和方法</vt:lpstr>
      <vt:lpstr>PowerPoint 演示文稿</vt:lpstr>
      <vt:lpstr>PowerPoint 演示文稿</vt:lpstr>
      <vt:lpstr>Different Temperatures</vt:lpstr>
      <vt:lpstr>PowerPoint 演示文稿</vt:lpstr>
      <vt:lpstr>Vary number of particles</vt:lpstr>
      <vt:lpstr>Small system</vt:lpstr>
      <vt:lpstr>PowerPoint 演示文稿</vt:lpstr>
      <vt:lpstr>PowerPoint 演示文稿</vt:lpstr>
      <vt:lpstr>Influence of Thermostat</vt:lpstr>
      <vt:lpstr>1. Introduction</vt:lpstr>
      <vt:lpstr>Thanks for your attention.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Maxwell–Boltzmann Speed Distributions     </dc:title>
  <dc:creator/>
  <cp:lastModifiedBy/>
  <dcterms:created xsi:type="dcterms:W3CDTF">2026-07-22T16:54:20Z</dcterms:created>
  <dcterms:modified xsi:type="dcterms:W3CDTF">2026-07-22T16:54:20Z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2052-12.9.0.27576</vt:lpwstr>
  </property>
  <property fmtid="{D5CDD505-2E9C-101B-9397-08002B2CF9AE}" pid="3" name="ICV">
    <vt:lpwstr>7E6013F3D5456A9F64E85F6A3F7DB4D9_42</vt:lpwstr>
  </property>
</Properties>
</file>